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258" r:id="rId3"/>
    <p:sldId id="312" r:id="rId4"/>
    <p:sldId id="293" r:id="rId5"/>
    <p:sldId id="287" r:id="rId6"/>
    <p:sldId id="288" r:id="rId7"/>
    <p:sldId id="314" r:id="rId8"/>
    <p:sldId id="290" r:id="rId9"/>
    <p:sldId id="289" r:id="rId10"/>
    <p:sldId id="265" r:id="rId11"/>
    <p:sldId id="285" r:id="rId12"/>
    <p:sldId id="286" r:id="rId13"/>
    <p:sldId id="295" r:id="rId14"/>
    <p:sldId id="296" r:id="rId15"/>
    <p:sldId id="298" r:id="rId16"/>
    <p:sldId id="308" r:id="rId17"/>
    <p:sldId id="299" r:id="rId18"/>
    <p:sldId id="307" r:id="rId19"/>
    <p:sldId id="300" r:id="rId20"/>
    <p:sldId id="310" r:id="rId21"/>
    <p:sldId id="311" r:id="rId22"/>
    <p:sldId id="277" r:id="rId23"/>
    <p:sldId id="301" r:id="rId24"/>
    <p:sldId id="302" r:id="rId25"/>
    <p:sldId id="303" r:id="rId26"/>
    <p:sldId id="304" r:id="rId27"/>
    <p:sldId id="294" r:id="rId28"/>
    <p:sldId id="313" r:id="rId29"/>
    <p:sldId id="284"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03" autoAdjust="0"/>
    <p:restoredTop sz="93019" autoAdjust="0"/>
  </p:normalViewPr>
  <p:slideViewPr>
    <p:cSldViewPr>
      <p:cViewPr varScale="1">
        <p:scale>
          <a:sx n="77" d="100"/>
          <a:sy n="77" d="100"/>
        </p:scale>
        <p:origin x="1598" y="5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05"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706"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707"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708"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9"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710"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extLst>
      <p:ext uri="{BB962C8B-B14F-4D97-AF65-F5344CB8AC3E}">
        <p14:creationId xmlns:p14="http://schemas.microsoft.com/office/powerpoint/2010/main" val="360710559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9A0EA98-5831-4853-B862-C702E6EB345C}" type="slidenum">
              <a:rPr lang="en-US" smtClean="0"/>
              <a:t>7</a:t>
            </a:fld>
            <a:endParaRPr lang="en-US"/>
          </a:p>
        </p:txBody>
      </p:sp>
    </p:spTree>
    <p:extLst>
      <p:ext uri="{BB962C8B-B14F-4D97-AF65-F5344CB8AC3E}">
        <p14:creationId xmlns:p14="http://schemas.microsoft.com/office/powerpoint/2010/main" val="3109412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9A0EA98-5831-4853-B862-C702E6EB345C}" type="slidenum">
              <a:rPr lang="en-US" smtClean="0"/>
              <a:t>16</a:t>
            </a:fld>
            <a:endParaRPr lang="en-US"/>
          </a:p>
        </p:txBody>
      </p:sp>
    </p:spTree>
    <p:extLst>
      <p:ext uri="{BB962C8B-B14F-4D97-AF65-F5344CB8AC3E}">
        <p14:creationId xmlns:p14="http://schemas.microsoft.com/office/powerpoint/2010/main" val="1495728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9A0EA98-5831-4853-B862-C702E6EB345C}" type="slidenum">
              <a:rPr lang="en-US" smtClean="0"/>
              <a:t>29</a:t>
            </a:fld>
            <a:endParaRPr lang="en-US"/>
          </a:p>
        </p:txBody>
      </p:sp>
    </p:spTree>
    <p:extLst>
      <p:ext uri="{BB962C8B-B14F-4D97-AF65-F5344CB8AC3E}">
        <p14:creationId xmlns:p14="http://schemas.microsoft.com/office/powerpoint/2010/main" val="110227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55"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656"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657" name="Date Placeholder 3"/>
          <p:cNvSpPr>
            <a:spLocks noGrp="1"/>
          </p:cNvSpPr>
          <p:nvPr>
            <p:ph type="dt" sz="half" idx="10"/>
          </p:nvPr>
        </p:nvSpPr>
        <p:spPr/>
        <p:txBody>
          <a:bodyPr/>
          <a:lstStyle/>
          <a:p>
            <a:fld id="{5B98CB6E-C190-4440-B285-B06930638D3F}" type="datetimeFigureOut">
              <a:rPr lang="en-US" smtClean="0"/>
              <a:t>5/27/2025</a:t>
            </a:fld>
            <a:endParaRPr lang="en-US"/>
          </a:p>
        </p:txBody>
      </p:sp>
      <p:sp>
        <p:nvSpPr>
          <p:cNvPr id="1048658" name="Footer Placeholder 4"/>
          <p:cNvSpPr>
            <a:spLocks noGrp="1"/>
          </p:cNvSpPr>
          <p:nvPr>
            <p:ph type="ftr" sz="quarter" idx="11"/>
          </p:nvPr>
        </p:nvSpPr>
        <p:spPr/>
        <p:txBody>
          <a:bodyPr/>
          <a:lstStyle/>
          <a:p>
            <a:endParaRPr lang="en-US"/>
          </a:p>
        </p:txBody>
      </p:sp>
      <p:sp>
        <p:nvSpPr>
          <p:cNvPr id="1048659" name="Slide Number Placeholder 5"/>
          <p:cNvSpPr>
            <a:spLocks noGrp="1"/>
          </p:cNvSpPr>
          <p:nvPr>
            <p:ph type="sldNum" sz="quarter" idx="12"/>
          </p:nvPr>
        </p:nvSpPr>
        <p:spPr/>
        <p:txBody>
          <a:bodyPr/>
          <a:lstStyle/>
          <a:p>
            <a:fld id="{2431F35F-CE4F-4829-8CB8-8FF4C5252CF1}"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69" name="Title 1"/>
          <p:cNvSpPr>
            <a:spLocks noGrp="1"/>
          </p:cNvSpPr>
          <p:nvPr>
            <p:ph type="title"/>
          </p:nvPr>
        </p:nvSpPr>
        <p:spPr/>
        <p:txBody>
          <a:bodyPr/>
          <a:lstStyle/>
          <a:p>
            <a:r>
              <a:rPr lang="en-US"/>
              <a:t>Click to edit Master title style</a:t>
            </a:r>
          </a:p>
        </p:txBody>
      </p:sp>
      <p:sp>
        <p:nvSpPr>
          <p:cNvPr id="1048670"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1" name="Date Placeholder 3"/>
          <p:cNvSpPr>
            <a:spLocks noGrp="1"/>
          </p:cNvSpPr>
          <p:nvPr>
            <p:ph type="dt" sz="half" idx="10"/>
          </p:nvPr>
        </p:nvSpPr>
        <p:spPr/>
        <p:txBody>
          <a:bodyPr/>
          <a:lstStyle/>
          <a:p>
            <a:fld id="{5B98CB6E-C190-4440-B285-B06930638D3F}" type="datetimeFigureOut">
              <a:rPr lang="en-US" smtClean="0"/>
              <a:t>5/27/2025</a:t>
            </a:fld>
            <a:endParaRPr lang="en-US"/>
          </a:p>
        </p:txBody>
      </p:sp>
      <p:sp>
        <p:nvSpPr>
          <p:cNvPr id="1048672" name="Footer Placeholder 4"/>
          <p:cNvSpPr>
            <a:spLocks noGrp="1"/>
          </p:cNvSpPr>
          <p:nvPr>
            <p:ph type="ftr" sz="quarter" idx="11"/>
          </p:nvPr>
        </p:nvSpPr>
        <p:spPr/>
        <p:txBody>
          <a:bodyPr/>
          <a:lstStyle/>
          <a:p>
            <a:endParaRPr lang="en-US"/>
          </a:p>
        </p:txBody>
      </p:sp>
      <p:sp>
        <p:nvSpPr>
          <p:cNvPr id="1048673" name="Slide Number Placeholder 5"/>
          <p:cNvSpPr>
            <a:spLocks noGrp="1"/>
          </p:cNvSpPr>
          <p:nvPr>
            <p:ph type="sldNum" sz="quarter" idx="12"/>
          </p:nvPr>
        </p:nvSpPr>
        <p:spPr/>
        <p:txBody>
          <a:bodyPr/>
          <a:lstStyle/>
          <a:p>
            <a:fld id="{2431F35F-CE4F-4829-8CB8-8FF4C5252CF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49"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650"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51" name="Date Placeholder 3"/>
          <p:cNvSpPr>
            <a:spLocks noGrp="1"/>
          </p:cNvSpPr>
          <p:nvPr>
            <p:ph type="dt" sz="half" idx="10"/>
          </p:nvPr>
        </p:nvSpPr>
        <p:spPr/>
        <p:txBody>
          <a:bodyPr/>
          <a:lstStyle/>
          <a:p>
            <a:fld id="{5B98CB6E-C190-4440-B285-B06930638D3F}" type="datetimeFigureOut">
              <a:rPr lang="en-US" smtClean="0"/>
              <a:t>5/27/2025</a:t>
            </a:fld>
            <a:endParaRPr lang="en-US"/>
          </a:p>
        </p:txBody>
      </p:sp>
      <p:sp>
        <p:nvSpPr>
          <p:cNvPr id="1048652" name="Footer Placeholder 4"/>
          <p:cNvSpPr>
            <a:spLocks noGrp="1"/>
          </p:cNvSpPr>
          <p:nvPr>
            <p:ph type="ftr" sz="quarter" idx="11"/>
          </p:nvPr>
        </p:nvSpPr>
        <p:spPr/>
        <p:txBody>
          <a:bodyPr/>
          <a:lstStyle/>
          <a:p>
            <a:endParaRPr lang="en-US"/>
          </a:p>
        </p:txBody>
      </p:sp>
      <p:sp>
        <p:nvSpPr>
          <p:cNvPr id="1048653" name="Slide Number Placeholder 5"/>
          <p:cNvSpPr>
            <a:spLocks noGrp="1"/>
          </p:cNvSpPr>
          <p:nvPr>
            <p:ph type="sldNum" sz="quarter" idx="12"/>
          </p:nvPr>
        </p:nvSpPr>
        <p:spPr/>
        <p:txBody>
          <a:bodyPr/>
          <a:lstStyle/>
          <a:p>
            <a:fld id="{2431F35F-CE4F-4829-8CB8-8FF4C5252CF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85" name="Title 1"/>
          <p:cNvSpPr>
            <a:spLocks noGrp="1"/>
          </p:cNvSpPr>
          <p:nvPr>
            <p:ph type="title"/>
          </p:nvPr>
        </p:nvSpPr>
        <p:spPr/>
        <p:txBody>
          <a:bodyPr/>
          <a:lstStyle/>
          <a:p>
            <a:r>
              <a:rPr lang="en-US"/>
              <a:t>Click to edit Master title style</a:t>
            </a:r>
          </a:p>
        </p:txBody>
      </p:sp>
      <p:sp>
        <p:nvSpPr>
          <p:cNvPr id="1048686"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7"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8" name="Date Placeholder 4"/>
          <p:cNvSpPr>
            <a:spLocks noGrp="1"/>
          </p:cNvSpPr>
          <p:nvPr>
            <p:ph type="dt" sz="half" idx="10"/>
          </p:nvPr>
        </p:nvSpPr>
        <p:spPr/>
        <p:txBody>
          <a:bodyPr/>
          <a:lstStyle/>
          <a:p>
            <a:fld id="{5B98CB6E-C190-4440-B285-B06930638D3F}" type="datetimeFigureOut">
              <a:rPr lang="en-US" smtClean="0"/>
              <a:t>5/27/2025</a:t>
            </a:fld>
            <a:endParaRPr lang="en-US"/>
          </a:p>
        </p:txBody>
      </p:sp>
      <p:sp>
        <p:nvSpPr>
          <p:cNvPr id="1048689" name="Footer Placeholder 5"/>
          <p:cNvSpPr>
            <a:spLocks noGrp="1"/>
          </p:cNvSpPr>
          <p:nvPr>
            <p:ph type="ftr" sz="quarter" idx="11"/>
          </p:nvPr>
        </p:nvSpPr>
        <p:spPr/>
        <p:txBody>
          <a:bodyPr/>
          <a:lstStyle/>
          <a:p>
            <a:endParaRPr lang="en-US"/>
          </a:p>
        </p:txBody>
      </p:sp>
      <p:sp>
        <p:nvSpPr>
          <p:cNvPr id="1048690" name="Slide Number Placeholder 6"/>
          <p:cNvSpPr>
            <a:spLocks noGrp="1"/>
          </p:cNvSpPr>
          <p:nvPr>
            <p:ph type="sldNum" sz="quarter" idx="12"/>
          </p:nvPr>
        </p:nvSpPr>
        <p:spPr/>
        <p:txBody>
          <a:bodyPr/>
          <a:lstStyle/>
          <a:p>
            <a:fld id="{2431F35F-CE4F-4829-8CB8-8FF4C5252CF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91" name="Title 1"/>
          <p:cNvSpPr>
            <a:spLocks noGrp="1"/>
          </p:cNvSpPr>
          <p:nvPr>
            <p:ph type="title"/>
          </p:nvPr>
        </p:nvSpPr>
        <p:spPr/>
        <p:txBody>
          <a:bodyPr/>
          <a:lstStyle/>
          <a:p>
            <a:r>
              <a:rPr lang="en-US"/>
              <a:t>Click to edit Master title style</a:t>
            </a:r>
          </a:p>
        </p:txBody>
      </p:sp>
      <p:sp>
        <p:nvSpPr>
          <p:cNvPr id="1048692"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93"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4"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95"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6" name="Date Placeholder 6"/>
          <p:cNvSpPr>
            <a:spLocks noGrp="1"/>
          </p:cNvSpPr>
          <p:nvPr>
            <p:ph type="dt" sz="half" idx="10"/>
          </p:nvPr>
        </p:nvSpPr>
        <p:spPr/>
        <p:txBody>
          <a:bodyPr/>
          <a:lstStyle/>
          <a:p>
            <a:fld id="{5B98CB6E-C190-4440-B285-B06930638D3F}" type="datetimeFigureOut">
              <a:rPr lang="en-US" smtClean="0"/>
              <a:t>5/27/2025</a:t>
            </a:fld>
            <a:endParaRPr lang="en-US"/>
          </a:p>
        </p:txBody>
      </p:sp>
      <p:sp>
        <p:nvSpPr>
          <p:cNvPr id="1048697" name="Footer Placeholder 7"/>
          <p:cNvSpPr>
            <a:spLocks noGrp="1"/>
          </p:cNvSpPr>
          <p:nvPr>
            <p:ph type="ftr" sz="quarter" idx="11"/>
          </p:nvPr>
        </p:nvSpPr>
        <p:spPr/>
        <p:txBody>
          <a:bodyPr/>
          <a:lstStyle/>
          <a:p>
            <a:endParaRPr lang="en-US"/>
          </a:p>
        </p:txBody>
      </p:sp>
      <p:sp>
        <p:nvSpPr>
          <p:cNvPr id="1048698" name="Slide Number Placeholder 8"/>
          <p:cNvSpPr>
            <a:spLocks noGrp="1"/>
          </p:cNvSpPr>
          <p:nvPr>
            <p:ph type="sldNum" sz="quarter" idx="12"/>
          </p:nvPr>
        </p:nvSpPr>
        <p:spPr/>
        <p:txBody>
          <a:bodyPr/>
          <a:lstStyle/>
          <a:p>
            <a:fld id="{2431F35F-CE4F-4829-8CB8-8FF4C5252CF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60" name="Title 1"/>
          <p:cNvSpPr>
            <a:spLocks noGrp="1"/>
          </p:cNvSpPr>
          <p:nvPr>
            <p:ph type="title"/>
          </p:nvPr>
        </p:nvSpPr>
        <p:spPr/>
        <p:txBody>
          <a:bodyPr/>
          <a:lstStyle/>
          <a:p>
            <a:r>
              <a:rPr lang="en-US"/>
              <a:t>Click to edit Master title style</a:t>
            </a:r>
          </a:p>
        </p:txBody>
      </p:sp>
      <p:sp>
        <p:nvSpPr>
          <p:cNvPr id="1048661" name="Date Placeholder 2"/>
          <p:cNvSpPr>
            <a:spLocks noGrp="1"/>
          </p:cNvSpPr>
          <p:nvPr>
            <p:ph type="dt" sz="half" idx="10"/>
          </p:nvPr>
        </p:nvSpPr>
        <p:spPr/>
        <p:txBody>
          <a:bodyPr/>
          <a:lstStyle/>
          <a:p>
            <a:fld id="{5B98CB6E-C190-4440-B285-B06930638D3F}" type="datetimeFigureOut">
              <a:rPr lang="en-US" smtClean="0"/>
              <a:t>5/27/2025</a:t>
            </a:fld>
            <a:endParaRPr lang="en-US"/>
          </a:p>
        </p:txBody>
      </p:sp>
      <p:sp>
        <p:nvSpPr>
          <p:cNvPr id="1048662" name="Footer Placeholder 3"/>
          <p:cNvSpPr>
            <a:spLocks noGrp="1"/>
          </p:cNvSpPr>
          <p:nvPr>
            <p:ph type="ftr" sz="quarter" idx="11"/>
          </p:nvPr>
        </p:nvSpPr>
        <p:spPr/>
        <p:txBody>
          <a:bodyPr/>
          <a:lstStyle/>
          <a:p>
            <a:endParaRPr lang="en-US"/>
          </a:p>
        </p:txBody>
      </p:sp>
      <p:sp>
        <p:nvSpPr>
          <p:cNvPr id="1048663" name="Slide Number Placeholder 4"/>
          <p:cNvSpPr>
            <a:spLocks noGrp="1"/>
          </p:cNvSpPr>
          <p:nvPr>
            <p:ph type="sldNum" sz="quarter" idx="12"/>
          </p:nvPr>
        </p:nvSpPr>
        <p:spPr/>
        <p:txBody>
          <a:bodyPr/>
          <a:lstStyle/>
          <a:p>
            <a:fld id="{2431F35F-CE4F-4829-8CB8-8FF4C5252CF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581" name="Date Placeholder 1"/>
          <p:cNvSpPr>
            <a:spLocks noGrp="1"/>
          </p:cNvSpPr>
          <p:nvPr>
            <p:ph type="dt" sz="half" idx="10"/>
          </p:nvPr>
        </p:nvSpPr>
        <p:spPr/>
        <p:txBody>
          <a:bodyPr/>
          <a:lstStyle/>
          <a:p>
            <a:fld id="{5B98CB6E-C190-4440-B285-B06930638D3F}" type="datetimeFigureOut">
              <a:rPr lang="en-US" smtClean="0"/>
              <a:t>5/27/2025</a:t>
            </a:fld>
            <a:endParaRPr lang="en-US"/>
          </a:p>
        </p:txBody>
      </p:sp>
      <p:sp>
        <p:nvSpPr>
          <p:cNvPr id="1048582" name="Footer Placeholder 2"/>
          <p:cNvSpPr>
            <a:spLocks noGrp="1"/>
          </p:cNvSpPr>
          <p:nvPr>
            <p:ph type="ftr" sz="quarter" idx="11"/>
          </p:nvPr>
        </p:nvSpPr>
        <p:spPr/>
        <p:txBody>
          <a:bodyPr/>
          <a:lstStyle/>
          <a:p>
            <a:endParaRPr lang="en-US"/>
          </a:p>
        </p:txBody>
      </p:sp>
      <p:sp>
        <p:nvSpPr>
          <p:cNvPr id="1048583" name="Slide Number Placeholder 3"/>
          <p:cNvSpPr>
            <a:spLocks noGrp="1"/>
          </p:cNvSpPr>
          <p:nvPr>
            <p:ph type="sldNum" sz="quarter" idx="12"/>
          </p:nvPr>
        </p:nvSpPr>
        <p:spPr/>
        <p:txBody>
          <a:bodyPr/>
          <a:lstStyle/>
          <a:p>
            <a:fld id="{2431F35F-CE4F-4829-8CB8-8FF4C5252CF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99"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700"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1"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02" name="Date Placeholder 4"/>
          <p:cNvSpPr>
            <a:spLocks noGrp="1"/>
          </p:cNvSpPr>
          <p:nvPr>
            <p:ph type="dt" sz="half" idx="10"/>
          </p:nvPr>
        </p:nvSpPr>
        <p:spPr/>
        <p:txBody>
          <a:bodyPr/>
          <a:lstStyle/>
          <a:p>
            <a:fld id="{5B98CB6E-C190-4440-B285-B06930638D3F}" type="datetimeFigureOut">
              <a:rPr lang="en-US" smtClean="0"/>
              <a:t>5/27/2025</a:t>
            </a:fld>
            <a:endParaRPr lang="en-US"/>
          </a:p>
        </p:txBody>
      </p:sp>
      <p:sp>
        <p:nvSpPr>
          <p:cNvPr id="1048703" name="Footer Placeholder 5"/>
          <p:cNvSpPr>
            <a:spLocks noGrp="1"/>
          </p:cNvSpPr>
          <p:nvPr>
            <p:ph type="ftr" sz="quarter" idx="11"/>
          </p:nvPr>
        </p:nvSpPr>
        <p:spPr/>
        <p:txBody>
          <a:bodyPr/>
          <a:lstStyle/>
          <a:p>
            <a:endParaRPr lang="en-US"/>
          </a:p>
        </p:txBody>
      </p:sp>
      <p:sp>
        <p:nvSpPr>
          <p:cNvPr id="1048704" name="Slide Number Placeholder 6"/>
          <p:cNvSpPr>
            <a:spLocks noGrp="1"/>
          </p:cNvSpPr>
          <p:nvPr>
            <p:ph type="sldNum" sz="quarter" idx="12"/>
          </p:nvPr>
        </p:nvSpPr>
        <p:spPr/>
        <p:txBody>
          <a:bodyPr/>
          <a:lstStyle/>
          <a:p>
            <a:fld id="{2431F35F-CE4F-4829-8CB8-8FF4C5252CF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74"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675"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76"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77" name="Date Placeholder 4"/>
          <p:cNvSpPr>
            <a:spLocks noGrp="1"/>
          </p:cNvSpPr>
          <p:nvPr>
            <p:ph type="dt" sz="half" idx="10"/>
          </p:nvPr>
        </p:nvSpPr>
        <p:spPr/>
        <p:txBody>
          <a:bodyPr/>
          <a:lstStyle/>
          <a:p>
            <a:fld id="{5B98CB6E-C190-4440-B285-B06930638D3F}" type="datetimeFigureOut">
              <a:rPr lang="en-US" smtClean="0"/>
              <a:t>5/27/2025</a:t>
            </a:fld>
            <a:endParaRPr lang="en-US"/>
          </a:p>
        </p:txBody>
      </p:sp>
      <p:sp>
        <p:nvSpPr>
          <p:cNvPr id="1048678" name="Footer Placeholder 5"/>
          <p:cNvSpPr>
            <a:spLocks noGrp="1"/>
          </p:cNvSpPr>
          <p:nvPr>
            <p:ph type="ftr" sz="quarter" idx="11"/>
          </p:nvPr>
        </p:nvSpPr>
        <p:spPr/>
        <p:txBody>
          <a:bodyPr/>
          <a:lstStyle/>
          <a:p>
            <a:endParaRPr lang="en-US"/>
          </a:p>
        </p:txBody>
      </p:sp>
      <p:sp>
        <p:nvSpPr>
          <p:cNvPr id="1048679" name="Slide Number Placeholder 6"/>
          <p:cNvSpPr>
            <a:spLocks noGrp="1"/>
          </p:cNvSpPr>
          <p:nvPr>
            <p:ph type="sldNum" sz="quarter" idx="12"/>
          </p:nvPr>
        </p:nvSpPr>
        <p:spPr/>
        <p:txBody>
          <a:bodyPr/>
          <a:lstStyle/>
          <a:p>
            <a:fld id="{2431F35F-CE4F-4829-8CB8-8FF4C5252CF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80" name="Title 1"/>
          <p:cNvSpPr>
            <a:spLocks noGrp="1"/>
          </p:cNvSpPr>
          <p:nvPr>
            <p:ph type="title"/>
          </p:nvPr>
        </p:nvSpPr>
        <p:spPr/>
        <p:txBody>
          <a:bodyPr/>
          <a:lstStyle/>
          <a:p>
            <a:r>
              <a:rPr lang="en-US"/>
              <a:t>Click to edit Master title style</a:t>
            </a:r>
          </a:p>
        </p:txBody>
      </p:sp>
      <p:sp>
        <p:nvSpPr>
          <p:cNvPr id="1048681"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p:txBody>
          <a:bodyPr/>
          <a:lstStyle/>
          <a:p>
            <a:fld id="{5B98CB6E-C190-4440-B285-B06930638D3F}" type="datetimeFigureOut">
              <a:rPr lang="en-US" smtClean="0"/>
              <a:t>5/27/2025</a:t>
            </a:fld>
            <a:endParaRPr lang="en-US"/>
          </a:p>
        </p:txBody>
      </p:sp>
      <p:sp>
        <p:nvSpPr>
          <p:cNvPr id="1048683" name="Footer Placeholder 4"/>
          <p:cNvSpPr>
            <a:spLocks noGrp="1"/>
          </p:cNvSpPr>
          <p:nvPr>
            <p:ph type="ftr" sz="quarter" idx="11"/>
          </p:nvPr>
        </p:nvSpPr>
        <p:spPr/>
        <p:txBody>
          <a:bodyPr/>
          <a:lstStyle/>
          <a:p>
            <a:endParaRPr lang="en-US"/>
          </a:p>
        </p:txBody>
      </p:sp>
      <p:sp>
        <p:nvSpPr>
          <p:cNvPr id="1048684" name="Slide Number Placeholder 5"/>
          <p:cNvSpPr>
            <a:spLocks noGrp="1"/>
          </p:cNvSpPr>
          <p:nvPr>
            <p:ph type="sldNum" sz="quarter" idx="12"/>
          </p:nvPr>
        </p:nvSpPr>
        <p:spPr/>
        <p:txBody>
          <a:bodyPr/>
          <a:lstStyle/>
          <a:p>
            <a:fld id="{2431F35F-CE4F-4829-8CB8-8FF4C5252CF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64"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65"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6" name="Date Placeholder 3"/>
          <p:cNvSpPr>
            <a:spLocks noGrp="1"/>
          </p:cNvSpPr>
          <p:nvPr>
            <p:ph type="dt" sz="half" idx="10"/>
          </p:nvPr>
        </p:nvSpPr>
        <p:spPr/>
        <p:txBody>
          <a:bodyPr/>
          <a:lstStyle/>
          <a:p>
            <a:fld id="{5B98CB6E-C190-4440-B285-B06930638D3F}" type="datetimeFigureOut">
              <a:rPr lang="en-US" smtClean="0"/>
              <a:t>5/27/2025</a:t>
            </a:fld>
            <a:endParaRPr lang="en-US"/>
          </a:p>
        </p:txBody>
      </p:sp>
      <p:sp>
        <p:nvSpPr>
          <p:cNvPr id="1048667" name="Footer Placeholder 4"/>
          <p:cNvSpPr>
            <a:spLocks noGrp="1"/>
          </p:cNvSpPr>
          <p:nvPr>
            <p:ph type="ftr" sz="quarter" idx="11"/>
          </p:nvPr>
        </p:nvSpPr>
        <p:spPr/>
        <p:txBody>
          <a:bodyPr/>
          <a:lstStyle/>
          <a:p>
            <a:endParaRPr lang="en-US"/>
          </a:p>
        </p:txBody>
      </p:sp>
      <p:sp>
        <p:nvSpPr>
          <p:cNvPr id="1048668" name="Slide Number Placeholder 5"/>
          <p:cNvSpPr>
            <a:spLocks noGrp="1"/>
          </p:cNvSpPr>
          <p:nvPr>
            <p:ph type="sldNum" sz="quarter" idx="12"/>
          </p:nvPr>
        </p:nvSpPr>
        <p:spPr/>
        <p:txBody>
          <a:bodyPr/>
          <a:lstStyle/>
          <a:p>
            <a:fld id="{2431F35F-CE4F-4829-8CB8-8FF4C5252CF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98CB6E-C190-4440-B285-B06930638D3F}" type="datetimeFigureOut">
              <a:rPr lang="en-US" smtClean="0"/>
              <a:t>5/27/2025</a:t>
            </a:fld>
            <a:endParaRPr lang="en-US"/>
          </a:p>
        </p:txBody>
      </p:sp>
      <p:sp>
        <p:nvSpPr>
          <p:cNvPr id="104857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1F35F-CE4F-4829-8CB8-8FF4C5252CF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12.jpeg"/></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4" name="TextBox 1"/>
          <p:cNvSpPr txBox="1"/>
          <p:nvPr/>
        </p:nvSpPr>
        <p:spPr>
          <a:xfrm>
            <a:off x="2971800" y="0"/>
            <a:ext cx="3495446" cy="624840"/>
          </a:xfrm>
          <a:prstGeom prst="rect">
            <a:avLst/>
          </a:prstGeom>
          <a:noFill/>
        </p:spPr>
        <p:txBody>
          <a:bodyPr wrap="none" rtlCol="0">
            <a:spAutoFit/>
          </a:bodyPr>
          <a:lstStyle/>
          <a:p>
            <a:r>
              <a:rPr lang="en-IN" dirty="0">
                <a:solidFill>
                  <a:schemeClr val="tx1"/>
                </a:solidFill>
                <a:latin typeface="Times New Roman" panose="02020603050405020304" pitchFamily="18" charset="0"/>
                <a:cs typeface="Times New Roman" panose="02020603050405020304" pitchFamily="18" charset="0"/>
              </a:rPr>
              <a:t>Bapuji Educational Association ®</a:t>
            </a:r>
          </a:p>
          <a:p>
            <a:endParaRPr lang="en-US" dirty="0"/>
          </a:p>
        </p:txBody>
      </p:sp>
      <p:sp>
        <p:nvSpPr>
          <p:cNvPr id="1048585" name="TextBox 2"/>
          <p:cNvSpPr txBox="1"/>
          <p:nvPr/>
        </p:nvSpPr>
        <p:spPr>
          <a:xfrm>
            <a:off x="226672" y="344267"/>
            <a:ext cx="8184356" cy="1177245"/>
          </a:xfrm>
          <a:prstGeom prst="rect">
            <a:avLst/>
          </a:prstGeom>
          <a:noFill/>
        </p:spPr>
        <p:txBody>
          <a:bodyPr wrap="none" rtlCol="0">
            <a:spAutoFit/>
          </a:bodyPr>
          <a:lstStyle/>
          <a:p>
            <a:pPr marL="476884" marR="5080" lvl="0" indent="-464820" algn="ctr">
              <a:lnSpc>
                <a:spcPts val="700"/>
              </a:lnSpc>
              <a:spcBef>
                <a:spcPts val="135"/>
              </a:spcBef>
            </a:pPr>
            <a:endParaRPr lang="en-IN" dirty="0">
              <a:solidFill>
                <a:prstClr val="black"/>
              </a:solidFill>
              <a:latin typeface="Times New Roman" panose="02020603050405020304" pitchFamily="18" charset="0"/>
              <a:cs typeface="Times New Roman" panose="02020603050405020304" pitchFamily="18" charset="0"/>
            </a:endParaRPr>
          </a:p>
          <a:p>
            <a:pPr marL="476884" marR="5080" lvl="0" indent="-464820" algn="ctr">
              <a:lnSpc>
                <a:spcPts val="700"/>
              </a:lnSpc>
              <a:spcBef>
                <a:spcPts val="135"/>
              </a:spcBef>
            </a:pPr>
            <a:r>
              <a:rPr lang="en-US" dirty="0">
                <a:solidFill>
                  <a:prstClr val="black"/>
                </a:solidFill>
                <a:latin typeface="Times New Roman" pitchFamily="18" charset="0"/>
                <a:cs typeface="Times New Roman" pitchFamily="18" charset="0"/>
              </a:rPr>
              <a:t>BAPUJI </a:t>
            </a:r>
            <a:r>
              <a:rPr lang="en-US" spc="-5" dirty="0">
                <a:solidFill>
                  <a:prstClr val="black"/>
                </a:solidFill>
                <a:latin typeface="Times New Roman" panose="02020603050405020304" pitchFamily="18" charset="0"/>
                <a:cs typeface="Times New Roman" pitchFamily="18" charset="0"/>
              </a:rPr>
              <a:t>INSTITUTE </a:t>
            </a:r>
            <a:r>
              <a:rPr lang="en-US" spc="5" dirty="0">
                <a:solidFill>
                  <a:prstClr val="black"/>
                </a:solidFill>
                <a:latin typeface="Times New Roman" panose="02020603050405020304" pitchFamily="18" charset="0"/>
                <a:cs typeface="Times New Roman" pitchFamily="18" charset="0"/>
              </a:rPr>
              <a:t>OF </a:t>
            </a:r>
            <a:r>
              <a:rPr lang="en-US" spc="-25" dirty="0">
                <a:solidFill>
                  <a:prstClr val="black"/>
                </a:solidFill>
                <a:latin typeface="Times New Roman" panose="02020603050405020304" pitchFamily="18" charset="0"/>
                <a:cs typeface="Times New Roman" pitchFamily="18" charset="0"/>
              </a:rPr>
              <a:t>ENGINEERING </a:t>
            </a:r>
            <a:r>
              <a:rPr lang="en-US" dirty="0">
                <a:solidFill>
                  <a:prstClr val="black"/>
                </a:solidFill>
                <a:latin typeface="Times New Roman" panose="02020603050405020304" pitchFamily="18" charset="0"/>
                <a:cs typeface="Times New Roman" pitchFamily="18" charset="0"/>
              </a:rPr>
              <a:t>AND  </a:t>
            </a:r>
            <a:r>
              <a:rPr lang="en-US" spc="5" dirty="0">
                <a:solidFill>
                  <a:prstClr val="black"/>
                </a:solidFill>
                <a:latin typeface="Times New Roman" panose="02020603050405020304" pitchFamily="18" charset="0"/>
                <a:cs typeface="Times New Roman" pitchFamily="18" charset="0"/>
              </a:rPr>
              <a:t>TECHNOLOGY  </a:t>
            </a:r>
            <a:r>
              <a:rPr lang="en-US" spc="-25" dirty="0">
                <a:solidFill>
                  <a:prstClr val="black"/>
                </a:solidFill>
                <a:latin typeface="Times New Roman" panose="02020603050405020304" pitchFamily="18" charset="0"/>
                <a:cs typeface="Times New Roman" pitchFamily="18" charset="0"/>
              </a:rPr>
              <a:t>DAVANGERE,</a:t>
            </a:r>
          </a:p>
          <a:p>
            <a:pPr marL="476884" marR="5080" lvl="0" indent="-464820" algn="ctr">
              <a:lnSpc>
                <a:spcPts val="700"/>
              </a:lnSpc>
              <a:spcBef>
                <a:spcPts val="135"/>
              </a:spcBef>
            </a:pPr>
            <a:endParaRPr lang="en-US" spc="-25" dirty="0">
              <a:solidFill>
                <a:prstClr val="black"/>
              </a:solidFill>
              <a:latin typeface="Times New Roman" panose="02020603050405020304" pitchFamily="18" charset="0"/>
              <a:cs typeface="Times New Roman" pitchFamily="18" charset="0"/>
            </a:endParaRPr>
          </a:p>
          <a:p>
            <a:pPr marL="476884" marR="5080" lvl="0" indent="-464820" algn="ctr">
              <a:lnSpc>
                <a:spcPts val="700"/>
              </a:lnSpc>
              <a:spcBef>
                <a:spcPts val="135"/>
              </a:spcBef>
            </a:pPr>
            <a:endParaRPr lang="en-US" spc="-25" dirty="0">
              <a:solidFill>
                <a:prstClr val="black"/>
              </a:solidFill>
              <a:latin typeface="Times New Roman" panose="02020603050405020304" pitchFamily="18" charset="0"/>
              <a:cs typeface="Times New Roman" pitchFamily="18" charset="0"/>
            </a:endParaRPr>
          </a:p>
          <a:p>
            <a:pPr marL="476884" marR="5080" lvl="0" indent="-464820" algn="ctr">
              <a:lnSpc>
                <a:spcPts val="700"/>
              </a:lnSpc>
              <a:spcBef>
                <a:spcPts val="135"/>
              </a:spcBef>
            </a:pPr>
            <a:r>
              <a:rPr lang="en-US" spc="-25" dirty="0">
                <a:solidFill>
                  <a:prstClr val="black"/>
                </a:solidFill>
                <a:latin typeface="Times New Roman" panose="02020603050405020304" pitchFamily="18" charset="0"/>
                <a:cs typeface="Times New Roman" pitchFamily="18" charset="0"/>
              </a:rPr>
              <a:t>KARNATAKA- 577004</a:t>
            </a:r>
          </a:p>
          <a:p>
            <a:pPr marL="476884" marR="5080" lvl="0" indent="-464820" algn="ctr">
              <a:lnSpc>
                <a:spcPts val="700"/>
              </a:lnSpc>
              <a:spcBef>
                <a:spcPts val="135"/>
              </a:spcBef>
            </a:pPr>
            <a:endParaRPr lang="en-US" spc="-25" dirty="0">
              <a:solidFill>
                <a:prstClr val="black"/>
              </a:solidFill>
              <a:latin typeface="Times New Roman" panose="02020603050405020304" pitchFamily="18" charset="0"/>
              <a:cs typeface="Times New Roman" pitchFamily="18" charset="0"/>
            </a:endParaRPr>
          </a:p>
          <a:p>
            <a:pPr marL="476884" marR="5080" lvl="0" indent="-464820" algn="ctr">
              <a:lnSpc>
                <a:spcPts val="700"/>
              </a:lnSpc>
              <a:spcBef>
                <a:spcPts val="135"/>
              </a:spcBef>
            </a:pPr>
            <a:endParaRPr lang="en-US" b="1" spc="-25" dirty="0">
              <a:solidFill>
                <a:prstClr val="black"/>
              </a:solidFill>
              <a:latin typeface="Times New Roman" panose="02020603050405020304" pitchFamily="18" charset="0"/>
              <a:cs typeface="Times New Roman" pitchFamily="18" charset="0"/>
            </a:endParaRPr>
          </a:p>
          <a:p>
            <a:pPr marL="476884" marR="5080" lvl="0" indent="-464820" algn="ctr">
              <a:lnSpc>
                <a:spcPts val="700"/>
              </a:lnSpc>
              <a:spcBef>
                <a:spcPts val="135"/>
              </a:spcBef>
            </a:pPr>
            <a:r>
              <a:rPr lang="en-US" b="1" spc="-25" dirty="0">
                <a:solidFill>
                  <a:prstClr val="black"/>
                </a:solidFill>
                <a:latin typeface="Times New Roman" panose="02020603050405020304" pitchFamily="18" charset="0"/>
                <a:cs typeface="Times New Roman" pitchFamily="18" charset="0"/>
              </a:rPr>
              <a:t>DEPARTMENT OF ELECTRONICS AND COMMUNICATION ENGINEERING</a:t>
            </a:r>
          </a:p>
          <a:p>
            <a:endParaRPr lang="en-US" dirty="0"/>
          </a:p>
        </p:txBody>
      </p:sp>
      <p:sp>
        <p:nvSpPr>
          <p:cNvPr id="1048586" name="object 5"/>
          <p:cNvSpPr/>
          <p:nvPr/>
        </p:nvSpPr>
        <p:spPr>
          <a:xfrm>
            <a:off x="3842306" y="1306856"/>
            <a:ext cx="1207415" cy="1289178"/>
          </a:xfrm>
          <a:prstGeom prst="rect">
            <a:avLst/>
          </a:prstGeom>
          <a:blipFill>
            <a:blip r:embed="rId2"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dirty="0">
              <a:latin typeface="Times New Roman" pitchFamily="18" charset="0"/>
              <a:cs typeface="Times New Roman" pitchFamily="18" charset="0"/>
            </a:endParaRPr>
          </a:p>
        </p:txBody>
      </p:sp>
      <p:sp>
        <p:nvSpPr>
          <p:cNvPr id="1048587" name="TextBox 4"/>
          <p:cNvSpPr txBox="1"/>
          <p:nvPr/>
        </p:nvSpPr>
        <p:spPr>
          <a:xfrm>
            <a:off x="2292604" y="2616993"/>
            <a:ext cx="4250350" cy="1225977"/>
          </a:xfrm>
          <a:prstGeom prst="rect">
            <a:avLst/>
          </a:prstGeom>
          <a:noFill/>
        </p:spPr>
        <p:txBody>
          <a:bodyPr wrap="square" rtlCol="0">
            <a:spAutoFit/>
          </a:bodyPr>
          <a:lstStyle/>
          <a:p>
            <a:pPr marL="12700" lvl="0" algn="ctr">
              <a:spcBef>
                <a:spcPts val="95"/>
              </a:spcBef>
            </a:pPr>
            <a:r>
              <a:rPr lang="en-US" spc="-55" dirty="0">
                <a:solidFill>
                  <a:prstClr val="black"/>
                </a:solidFill>
                <a:latin typeface="Times New Roman" panose="02020603050405020304" pitchFamily="18" charset="0"/>
                <a:cs typeface="Times New Roman" pitchFamily="18" charset="0"/>
              </a:rPr>
              <a:t>Project Presentation  </a:t>
            </a:r>
          </a:p>
          <a:p>
            <a:pPr marL="12700" lvl="0" algn="ctr">
              <a:spcBef>
                <a:spcPts val="95"/>
              </a:spcBef>
            </a:pPr>
            <a:r>
              <a:rPr lang="en-US" spc="-55" dirty="0">
                <a:solidFill>
                  <a:prstClr val="black"/>
                </a:solidFill>
                <a:latin typeface="Times New Roman" panose="02020603050405020304" pitchFamily="18" charset="0"/>
                <a:cs typeface="Times New Roman" pitchFamily="18" charset="0"/>
              </a:rPr>
              <a:t>On</a:t>
            </a:r>
          </a:p>
          <a:p>
            <a:pPr marL="12700" lvl="0" algn="just">
              <a:spcBef>
                <a:spcPts val="95"/>
              </a:spcBef>
            </a:pPr>
            <a:r>
              <a:rPr lang="en-US" b="1" dirty="0">
                <a:latin typeface="Times New Roman" panose="02020603050405020304" pitchFamily="18" charset="0"/>
                <a:cs typeface="Times New Roman" panose="02020603050405020304" pitchFamily="18" charset="0"/>
              </a:rPr>
              <a:t>	</a:t>
            </a:r>
          </a:p>
          <a:p>
            <a:endParaRPr lang="en-US" dirty="0"/>
          </a:p>
        </p:txBody>
      </p:sp>
      <p:sp>
        <p:nvSpPr>
          <p:cNvPr id="1048588" name="TextBox 5"/>
          <p:cNvSpPr txBox="1"/>
          <p:nvPr/>
        </p:nvSpPr>
        <p:spPr>
          <a:xfrm>
            <a:off x="2063833" y="3192457"/>
            <a:ext cx="4707892"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       SMART VEHICLE IGNITION SYSTEM</a:t>
            </a:r>
            <a:endParaRPr lang="en-US" dirty="0"/>
          </a:p>
        </p:txBody>
      </p:sp>
      <p:sp>
        <p:nvSpPr>
          <p:cNvPr id="1048589" name="TextBox 6"/>
          <p:cNvSpPr txBox="1"/>
          <p:nvPr/>
        </p:nvSpPr>
        <p:spPr>
          <a:xfrm>
            <a:off x="3262167" y="3573647"/>
            <a:ext cx="2554903" cy="624840"/>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PROJECT ASSOCIATES</a:t>
            </a:r>
          </a:p>
          <a:p>
            <a:endParaRPr lang="en-US" dirty="0"/>
          </a:p>
        </p:txBody>
      </p:sp>
      <p:sp>
        <p:nvSpPr>
          <p:cNvPr id="1048590" name="TextBox 8"/>
          <p:cNvSpPr txBox="1"/>
          <p:nvPr/>
        </p:nvSpPr>
        <p:spPr>
          <a:xfrm>
            <a:off x="1391332" y="4038600"/>
            <a:ext cx="6109365" cy="1366528"/>
          </a:xfrm>
          <a:prstGeom prst="rect">
            <a:avLst/>
          </a:prstGeom>
          <a:noFill/>
        </p:spPr>
        <p:txBody>
          <a:bodyPr wrap="none" rtlCol="0">
            <a:spAutoFit/>
          </a:bodyPr>
          <a:lstStyle/>
          <a:p>
            <a:pPr marL="914400" marR="0" algn="just">
              <a:lnSpc>
                <a:spcPct val="115000"/>
              </a:lnSpc>
              <a:spcBef>
                <a:spcPts val="0"/>
              </a:spcBef>
              <a:spcAft>
                <a:spcPts val="0"/>
              </a:spcAft>
            </a:pPr>
            <a:r>
              <a:rPr lang="en-US" dirty="0">
                <a:latin typeface="Times New Roman" panose="02020603050405020304" pitchFamily="18" charset="0"/>
                <a:ea typeface="Times New Roman" panose="02020603050405020304" pitchFamily="18" charset="0"/>
              </a:rPr>
              <a:t>BHAGYA D B	                                4BD21EC016</a:t>
            </a:r>
            <a:endParaRPr lang="en-IN" dirty="0">
              <a:latin typeface="Times New Roman" panose="02020603050405020304" pitchFamily="18" charset="0"/>
              <a:ea typeface="Times New Roman" panose="02020603050405020304" pitchFamily="18" charset="0"/>
            </a:endParaRPr>
          </a:p>
          <a:p>
            <a:pPr marL="914400" marR="0" algn="just">
              <a:lnSpc>
                <a:spcPct val="115000"/>
              </a:lnSpc>
              <a:spcBef>
                <a:spcPts val="0"/>
              </a:spcBef>
              <a:spcAft>
                <a:spcPts val="0"/>
              </a:spcAft>
            </a:pPr>
            <a:r>
              <a:rPr lang="en-US" dirty="0">
                <a:latin typeface="Times New Roman" panose="02020603050405020304" pitchFamily="18" charset="0"/>
                <a:ea typeface="Times New Roman" panose="02020603050405020304" pitchFamily="18" charset="0"/>
              </a:rPr>
              <a:t>RANI C O	                                4BD21EC078</a:t>
            </a:r>
            <a:endParaRPr lang="en-IN" dirty="0">
              <a:latin typeface="Times New Roman" panose="02020603050405020304" pitchFamily="18" charset="0"/>
              <a:ea typeface="Times New Roman" panose="02020603050405020304" pitchFamily="18" charset="0"/>
            </a:endParaRPr>
          </a:p>
          <a:p>
            <a:pPr marL="457200" marR="0" indent="457200" algn="just">
              <a:lnSpc>
                <a:spcPct val="115000"/>
              </a:lnSpc>
              <a:spcBef>
                <a:spcPts val="0"/>
              </a:spcBef>
              <a:spcAft>
                <a:spcPts val="0"/>
              </a:spcAft>
            </a:pPr>
            <a:r>
              <a:rPr lang="en-US" dirty="0">
                <a:latin typeface="Times New Roman" panose="02020603050405020304" pitchFamily="18" charset="0"/>
                <a:ea typeface="Times New Roman" panose="02020603050405020304" pitchFamily="18" charset="0"/>
              </a:rPr>
              <a:t>SINDHU B S                           	4BD21EC100</a:t>
            </a:r>
            <a:endParaRPr lang="en-IN" dirty="0">
              <a:latin typeface="Times New Roman" panose="02020603050405020304" pitchFamily="18" charset="0"/>
              <a:ea typeface="Times New Roman" panose="02020603050405020304" pitchFamily="18" charset="0"/>
            </a:endParaRPr>
          </a:p>
          <a:p>
            <a:pPr algn="just">
              <a:lnSpc>
                <a:spcPct val="115000"/>
              </a:lnSpc>
            </a:pPr>
            <a:r>
              <a:rPr lang="en-US" dirty="0">
                <a:latin typeface="Times New Roman" panose="02020603050405020304" pitchFamily="18" charset="0"/>
                <a:ea typeface="Times New Roman" panose="02020603050405020304" pitchFamily="18" charset="0"/>
              </a:rPr>
              <a:t>                SRUSHTI S G                                        4BD21EC106</a:t>
            </a:r>
            <a:endParaRPr lang="en-US" dirty="0"/>
          </a:p>
        </p:txBody>
      </p:sp>
      <p:sp>
        <p:nvSpPr>
          <p:cNvPr id="1048591" name="Rectangle 9"/>
          <p:cNvSpPr/>
          <p:nvPr/>
        </p:nvSpPr>
        <p:spPr>
          <a:xfrm>
            <a:off x="382340" y="5644903"/>
            <a:ext cx="2541593" cy="400110"/>
          </a:xfrm>
          <a:prstGeom prst="rect">
            <a:avLst/>
          </a:prstGeom>
        </p:spPr>
        <p:txBody>
          <a:bodyPr wrap="none">
            <a:spAutoFit/>
          </a:bodyPr>
          <a:lstStyle/>
          <a:p>
            <a:r>
              <a:rPr lang="en-US" sz="2000" b="1" dirty="0">
                <a:solidFill>
                  <a:prstClr val="black"/>
                </a:solidFill>
                <a:latin typeface="Times New Roman" panose="02020603050405020304" pitchFamily="18" charset="0"/>
                <a:cs typeface="Times New Roman" pitchFamily="18" charset="0"/>
              </a:rPr>
              <a:t>Dr. PRAKASH K.M </a:t>
            </a:r>
            <a:endParaRPr lang="en-US" sz="2000" dirty="0"/>
          </a:p>
        </p:txBody>
      </p:sp>
      <p:sp>
        <p:nvSpPr>
          <p:cNvPr id="1048592" name="Rectangle 10"/>
          <p:cNvSpPr/>
          <p:nvPr/>
        </p:nvSpPr>
        <p:spPr>
          <a:xfrm>
            <a:off x="496032" y="6048149"/>
            <a:ext cx="3135602" cy="338554"/>
          </a:xfrm>
          <a:prstGeom prst="rect">
            <a:avLst/>
          </a:prstGeom>
        </p:spPr>
        <p:txBody>
          <a:bodyPr wrap="none">
            <a:spAutoFit/>
          </a:bodyPr>
          <a:lstStyle/>
          <a:p>
            <a:r>
              <a:rPr lang="en-IN" sz="1600" spc="30" dirty="0" err="1">
                <a:solidFill>
                  <a:prstClr val="black"/>
                </a:solidFill>
                <a:latin typeface="Times New Roman" pitchFamily="18" charset="0"/>
                <a:cs typeface="Times New Roman" pitchFamily="18" charset="0"/>
              </a:rPr>
              <a:t>M</a:t>
            </a:r>
            <a:r>
              <a:rPr lang="en-IN" sz="1600" spc="-45" dirty="0" err="1">
                <a:solidFill>
                  <a:prstClr val="black"/>
                </a:solidFill>
                <a:latin typeface="Times New Roman" pitchFamily="18" charset="0"/>
                <a:cs typeface="Times New Roman" pitchFamily="18" charset="0"/>
              </a:rPr>
              <a:t>Tech</a:t>
            </a:r>
            <a:r>
              <a:rPr lang="en-IN" sz="1600" spc="-45" dirty="0">
                <a:solidFill>
                  <a:prstClr val="black"/>
                </a:solidFill>
                <a:latin typeface="Times New Roman" pitchFamily="18" charset="0"/>
                <a:cs typeface="Times New Roman" pitchFamily="18" charset="0"/>
              </a:rPr>
              <a:t>., </a:t>
            </a:r>
            <a:r>
              <a:rPr lang="en-IN" sz="1600" spc="-45" dirty="0" err="1">
                <a:solidFill>
                  <a:prstClr val="black"/>
                </a:solidFill>
                <a:latin typeface="Times New Roman" pitchFamily="18" charset="0"/>
                <a:cs typeface="Times New Roman" pitchFamily="18" charset="0"/>
              </a:rPr>
              <a:t>Ph.D</a:t>
            </a:r>
            <a:r>
              <a:rPr lang="en-IN" sz="1600" spc="-45" dirty="0">
                <a:solidFill>
                  <a:prstClr val="black"/>
                </a:solidFill>
                <a:latin typeface="Times New Roman" pitchFamily="18" charset="0"/>
                <a:cs typeface="Times New Roman" pitchFamily="18" charset="0"/>
              </a:rPr>
              <a:t>, MISTE, MIETE, MIE </a:t>
            </a:r>
            <a:endParaRPr lang="en-IN" sz="1600" dirty="0"/>
          </a:p>
        </p:txBody>
      </p:sp>
      <p:sp>
        <p:nvSpPr>
          <p:cNvPr id="1048593" name="Rectangle 12"/>
          <p:cNvSpPr/>
          <p:nvPr/>
        </p:nvSpPr>
        <p:spPr>
          <a:xfrm>
            <a:off x="5117801" y="5576845"/>
            <a:ext cx="2382896" cy="400110"/>
          </a:xfrm>
          <a:prstGeom prst="rect">
            <a:avLst/>
          </a:prstGeom>
        </p:spPr>
        <p:txBody>
          <a:bodyPr wrap="none">
            <a:spAutoFit/>
          </a:bodyPr>
          <a:lstStyle/>
          <a:p>
            <a:r>
              <a:rPr lang="en-US" b="1" dirty="0">
                <a:solidFill>
                  <a:prstClr val="black"/>
                </a:solidFill>
                <a:latin typeface="Times New Roman" panose="02020603050405020304" pitchFamily="18" charset="0"/>
                <a:cs typeface="Times New Roman" pitchFamily="18" charset="0"/>
              </a:rPr>
              <a:t> </a:t>
            </a:r>
            <a:r>
              <a:rPr lang="en-IN" sz="2000" b="1" spc="5" dirty="0">
                <a:solidFill>
                  <a:prstClr val="black"/>
                </a:solidFill>
                <a:latin typeface="Times New Roman" pitchFamily="18" charset="0"/>
                <a:cs typeface="Times New Roman" pitchFamily="18" charset="0"/>
              </a:rPr>
              <a:t>Dr. G. </a:t>
            </a:r>
            <a:r>
              <a:rPr lang="en-IN" sz="2000" b="1" spc="-70" dirty="0">
                <a:solidFill>
                  <a:prstClr val="black"/>
                </a:solidFill>
                <a:latin typeface="Times New Roman" pitchFamily="18" charset="0"/>
                <a:cs typeface="Times New Roman" pitchFamily="18" charset="0"/>
              </a:rPr>
              <a:t>S.</a:t>
            </a:r>
            <a:r>
              <a:rPr lang="en-IN" sz="2000" b="1" spc="100" dirty="0">
                <a:solidFill>
                  <a:prstClr val="black"/>
                </a:solidFill>
                <a:latin typeface="Times New Roman" pitchFamily="18" charset="0"/>
                <a:cs typeface="Times New Roman" pitchFamily="18" charset="0"/>
              </a:rPr>
              <a:t> </a:t>
            </a:r>
            <a:r>
              <a:rPr lang="en-IN" sz="2000" b="1" spc="-35" dirty="0">
                <a:solidFill>
                  <a:prstClr val="black"/>
                </a:solidFill>
                <a:latin typeface="Times New Roman" pitchFamily="18" charset="0"/>
                <a:cs typeface="Times New Roman" pitchFamily="18" charset="0"/>
              </a:rPr>
              <a:t>SUNITHA</a:t>
            </a:r>
            <a:endParaRPr lang="en-IN" sz="2000" dirty="0"/>
          </a:p>
        </p:txBody>
      </p:sp>
      <p:sp>
        <p:nvSpPr>
          <p:cNvPr id="1048594" name="Rectangle 13"/>
          <p:cNvSpPr/>
          <p:nvPr/>
        </p:nvSpPr>
        <p:spPr>
          <a:xfrm>
            <a:off x="5346357" y="6019935"/>
            <a:ext cx="3797643" cy="338554"/>
          </a:xfrm>
          <a:prstGeom prst="rect">
            <a:avLst/>
          </a:prstGeom>
        </p:spPr>
        <p:txBody>
          <a:bodyPr wrap="none">
            <a:spAutoFit/>
          </a:bodyPr>
          <a:lstStyle/>
          <a:p>
            <a:r>
              <a:rPr lang="en-IN" sz="1600" spc="30" dirty="0">
                <a:solidFill>
                  <a:prstClr val="black"/>
                </a:solidFill>
                <a:latin typeface="Times New Roman" pitchFamily="18" charset="0"/>
                <a:cs typeface="Times New Roman" pitchFamily="18" charset="0"/>
              </a:rPr>
              <a:t>M</a:t>
            </a:r>
            <a:r>
              <a:rPr lang="en-IN" sz="1600" spc="-45" dirty="0">
                <a:solidFill>
                  <a:prstClr val="black"/>
                </a:solidFill>
                <a:latin typeface="Times New Roman" pitchFamily="18" charset="0"/>
                <a:cs typeface="Times New Roman" pitchFamily="18" charset="0"/>
              </a:rPr>
              <a:t>T</a:t>
            </a:r>
            <a:r>
              <a:rPr lang="en-IN" sz="1600" spc="-25" dirty="0">
                <a:solidFill>
                  <a:prstClr val="black"/>
                </a:solidFill>
                <a:latin typeface="Times New Roman" pitchFamily="18" charset="0"/>
                <a:cs typeface="Times New Roman" pitchFamily="18" charset="0"/>
              </a:rPr>
              <a:t>ech. (DEAC), Ph.D., MISTE, FIETE,FIE</a:t>
            </a:r>
            <a:endParaRPr lang="en-IN" sz="1600" dirty="0"/>
          </a:p>
        </p:txBody>
      </p:sp>
      <p:sp>
        <p:nvSpPr>
          <p:cNvPr id="3" name="TextBox 2"/>
          <p:cNvSpPr txBox="1"/>
          <p:nvPr/>
        </p:nvSpPr>
        <p:spPr>
          <a:xfrm>
            <a:off x="442444" y="6380597"/>
            <a:ext cx="2421383" cy="369332"/>
          </a:xfrm>
          <a:prstGeom prst="rect">
            <a:avLst/>
          </a:prstGeom>
          <a:noFill/>
        </p:spPr>
        <p:txBody>
          <a:bodyPr wrap="square" rtlCol="0">
            <a:spAutoFit/>
          </a:bodyPr>
          <a:lstStyle/>
          <a:p>
            <a:r>
              <a:rPr lang="en-US" b="1" dirty="0">
                <a:latin typeface="Times New Roman" pitchFamily="18" charset="0"/>
                <a:cs typeface="Times New Roman" pitchFamily="18" charset="0"/>
              </a:rPr>
              <a:t>PROJECT  GUIDE</a:t>
            </a:r>
          </a:p>
        </p:txBody>
      </p:sp>
      <p:sp>
        <p:nvSpPr>
          <p:cNvPr id="4" name="TextBox 3"/>
          <p:cNvSpPr txBox="1"/>
          <p:nvPr/>
        </p:nvSpPr>
        <p:spPr>
          <a:xfrm>
            <a:off x="5248736" y="6377754"/>
            <a:ext cx="3438064" cy="369332"/>
          </a:xfrm>
          <a:prstGeom prst="rect">
            <a:avLst/>
          </a:prstGeom>
          <a:noFill/>
        </p:spPr>
        <p:txBody>
          <a:bodyPr wrap="square" rtlCol="0">
            <a:spAutoFit/>
          </a:bodyPr>
          <a:lstStyle/>
          <a:p>
            <a:r>
              <a:rPr lang="en-US" b="1" dirty="0">
                <a:latin typeface="Times New Roman" pitchFamily="18" charset="0"/>
                <a:cs typeface="Times New Roman" pitchFamily="18" charset="0"/>
              </a:rPr>
              <a:t>PROGRAM  COORDINATOR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Rectangle 1"/>
          <p:cNvSpPr/>
          <p:nvPr/>
        </p:nvSpPr>
        <p:spPr>
          <a:xfrm>
            <a:off x="278642" y="149608"/>
            <a:ext cx="8839200" cy="6463308"/>
          </a:xfrm>
          <a:prstGeom prst="rect">
            <a:avLst/>
          </a:prstGeom>
        </p:spPr>
        <p:txBody>
          <a:bodyPr wrap="square">
            <a:spAutoFit/>
          </a:bodyPr>
          <a:lstStyle/>
          <a:p>
            <a:pPr algn="just"/>
            <a:r>
              <a:rPr lang="en-IN" sz="2000" b="1" dirty="0">
                <a:latin typeface="Times New Roman" pitchFamily="18" charset="0"/>
                <a:cs typeface="Times New Roman" pitchFamily="18" charset="0"/>
              </a:rPr>
              <a:t>                                             </a:t>
            </a:r>
            <a:r>
              <a:rPr lang="en-US" sz="2000" b="1" dirty="0">
                <a:latin typeface="Times New Roman" panose="02020603050405020304" pitchFamily="18" charset="0"/>
                <a:cs typeface="Times New Roman" panose="02020603050405020304" pitchFamily="18" charset="0"/>
                <a:sym typeface="+mn-ea"/>
              </a:rPr>
              <a:t>Vision of the Department</a:t>
            </a:r>
            <a:endParaRPr lang="en-IN" sz="2000" b="1" dirty="0">
              <a:latin typeface="Times New Roman" pitchFamily="18" charset="0"/>
              <a:cs typeface="Times New Roman" pitchFamily="18" charset="0"/>
            </a:endParaRPr>
          </a:p>
          <a:p>
            <a:pPr algn="just"/>
            <a:endParaRPr lang="en-IN" dirty="0">
              <a:latin typeface="Times New Roman" pitchFamily="18" charset="0"/>
              <a:cs typeface="Times New Roman" pitchFamily="18" charset="0"/>
            </a:endParaRPr>
          </a:p>
          <a:p>
            <a:pPr algn="just"/>
            <a:r>
              <a:rPr lang="en-IN" sz="2000" dirty="0">
                <a:latin typeface="Times New Roman" pitchFamily="18" charset="0"/>
                <a:cs typeface="Times New Roman" pitchFamily="18" charset="0"/>
              </a:rPr>
              <a:t>To be in the forefront in providing quality technical education and research in Electronics and Communication Engineering to produce skilled professionals to cater to the challenges of the society.</a:t>
            </a:r>
          </a:p>
          <a:p>
            <a:pPr algn="just"/>
            <a:endParaRPr lang="en-IN" dirty="0">
              <a:latin typeface="Times New Roman" pitchFamily="18" charset="0"/>
              <a:cs typeface="Times New Roman" pitchFamily="18" charset="0"/>
            </a:endParaRPr>
          </a:p>
          <a:p>
            <a:pPr algn="ctr"/>
            <a:r>
              <a:rPr lang="en-US" sz="2000" b="1" dirty="0">
                <a:latin typeface="Times New Roman" panose="02020603050405020304" pitchFamily="18" charset="0"/>
                <a:cs typeface="Times New Roman" panose="02020603050405020304" pitchFamily="18" charset="0"/>
                <a:sym typeface="+mn-ea"/>
              </a:rPr>
              <a:t>Mission of the Department</a:t>
            </a:r>
            <a:endParaRPr lang="en-US" sz="2000" dirty="0">
              <a:latin typeface="Times New Roman" panose="02020603050405020304" pitchFamily="18" charset="0"/>
              <a:cs typeface="Times New Roman" panose="02020603050405020304" pitchFamily="18" charset="0"/>
            </a:endParaRPr>
          </a:p>
          <a:p>
            <a:pPr algn="just"/>
            <a:endParaRPr lang="en-IN" sz="2000" b="1" dirty="0">
              <a:latin typeface="Times New Roman" pitchFamily="18" charset="0"/>
              <a:cs typeface="Times New Roman" pitchFamily="18" charset="0"/>
            </a:endParaRPr>
          </a:p>
          <a:p>
            <a:pPr algn="just"/>
            <a:r>
              <a:rPr lang="en-IN" sz="2000" b="1" dirty="0">
                <a:latin typeface="Times New Roman" pitchFamily="18" charset="0"/>
                <a:cs typeface="Times New Roman" pitchFamily="18" charset="0"/>
              </a:rPr>
              <a:t>M1: </a:t>
            </a:r>
            <a:r>
              <a:rPr lang="en-IN" sz="2000" dirty="0">
                <a:latin typeface="Times New Roman" pitchFamily="18" charset="0"/>
                <a:cs typeface="Times New Roman" pitchFamily="18" charset="0"/>
              </a:rPr>
              <a:t>To facilitate the students with profound technical knowledge through effective teaching learning process for a successful career.</a:t>
            </a:r>
          </a:p>
          <a:p>
            <a:pPr algn="just"/>
            <a:endParaRPr lang="en-IN" sz="2000" dirty="0">
              <a:latin typeface="Times New Roman" pitchFamily="18" charset="0"/>
              <a:cs typeface="Times New Roman" pitchFamily="18" charset="0"/>
            </a:endParaRPr>
          </a:p>
          <a:p>
            <a:pPr algn="just"/>
            <a:r>
              <a:rPr lang="en-IN" sz="2000" b="1" dirty="0">
                <a:latin typeface="Times New Roman" pitchFamily="18" charset="0"/>
                <a:cs typeface="Times New Roman" pitchFamily="18" charset="0"/>
              </a:rPr>
              <a:t>M2: </a:t>
            </a:r>
            <a:r>
              <a:rPr lang="en-IN" sz="2000" dirty="0">
                <a:latin typeface="Times New Roman" pitchFamily="18" charset="0"/>
                <a:cs typeface="Times New Roman" pitchFamily="18" charset="0"/>
              </a:rPr>
              <a:t>To impart quality education to strengthen students to meet the industry standards and face confidently the challenges in the programme.</a:t>
            </a:r>
          </a:p>
          <a:p>
            <a:pPr algn="just"/>
            <a:endParaRPr lang="en-IN" sz="2000" dirty="0">
              <a:latin typeface="Times New Roman" pitchFamily="18" charset="0"/>
              <a:cs typeface="Times New Roman" pitchFamily="18" charset="0"/>
            </a:endParaRPr>
          </a:p>
          <a:p>
            <a:pPr algn="just"/>
            <a:r>
              <a:rPr lang="en-IN" sz="2000" b="1" dirty="0">
                <a:latin typeface="Times New Roman" pitchFamily="18" charset="0"/>
                <a:cs typeface="Times New Roman" pitchFamily="18" charset="0"/>
              </a:rPr>
              <a:t>M3: </a:t>
            </a:r>
            <a:r>
              <a:rPr lang="en-IN" sz="2000" dirty="0">
                <a:latin typeface="Times New Roman" pitchFamily="18" charset="0"/>
                <a:cs typeface="Times New Roman" pitchFamily="18" charset="0"/>
              </a:rPr>
              <a:t>To develop the essence of innovation and research among students and faculty by providing infrastructure and a conducive environment.</a:t>
            </a:r>
          </a:p>
          <a:p>
            <a:pPr algn="just"/>
            <a:endParaRPr lang="en-IN" sz="2000" dirty="0">
              <a:latin typeface="Times New Roman" pitchFamily="18" charset="0"/>
              <a:cs typeface="Times New Roman" pitchFamily="18" charset="0"/>
            </a:endParaRPr>
          </a:p>
          <a:p>
            <a:pPr algn="just"/>
            <a:r>
              <a:rPr lang="en-IN" sz="2000" b="1" dirty="0">
                <a:latin typeface="Times New Roman" pitchFamily="18" charset="0"/>
                <a:cs typeface="Times New Roman" pitchFamily="18" charset="0"/>
              </a:rPr>
              <a:t>M4: </a:t>
            </a:r>
            <a:r>
              <a:rPr lang="en-IN" sz="2000" dirty="0">
                <a:latin typeface="Times New Roman" pitchFamily="18" charset="0"/>
                <a:cs typeface="Times New Roman" pitchFamily="18" charset="0"/>
              </a:rPr>
              <a:t>To inculcate the student community with ethical values, communication skills, leadership qualities, entrepreneurial skills and lifelong learning to meet the societal needs.</a:t>
            </a:r>
          </a:p>
          <a:p>
            <a:pPr algn="just"/>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23514" y="685800"/>
            <a:ext cx="4164923" cy="523220"/>
          </a:xfrm>
          <a:prstGeom prst="rect">
            <a:avLst/>
          </a:prstGeom>
        </p:spPr>
        <p:txBody>
          <a:bodyPr wrap="none">
            <a:spAutoFit/>
          </a:bodyPr>
          <a:lstStyle/>
          <a:p>
            <a:pPr algn="ctr"/>
            <a:r>
              <a:rPr lang="en-US" sz="2800" b="1" dirty="0">
                <a:latin typeface="Times New Roman" pitchFamily="18" charset="0"/>
                <a:cs typeface="Times New Roman" pitchFamily="18" charset="0"/>
              </a:rPr>
              <a:t>COURSE OBJECTIVES</a:t>
            </a:r>
          </a:p>
        </p:txBody>
      </p:sp>
      <p:sp>
        <p:nvSpPr>
          <p:cNvPr id="3" name="Rectangle 2"/>
          <p:cNvSpPr/>
          <p:nvPr/>
        </p:nvSpPr>
        <p:spPr>
          <a:xfrm>
            <a:off x="609600" y="1524000"/>
            <a:ext cx="8001000" cy="3939540"/>
          </a:xfrm>
          <a:prstGeom prst="rect">
            <a:avLst/>
          </a:prstGeom>
        </p:spPr>
        <p:txBody>
          <a:bodyPr wrap="square">
            <a:spAutoFit/>
          </a:bodyPr>
          <a:lstStyle/>
          <a:p>
            <a:pPr algn="just"/>
            <a:r>
              <a:rPr lang="en-US" sz="2000" dirty="0">
                <a:latin typeface="Times New Roman" pitchFamily="18" charset="0"/>
                <a:cs typeface="Times New Roman" pitchFamily="18" charset="0"/>
              </a:rPr>
              <a:t>This course will enable students to:</a:t>
            </a:r>
          </a:p>
          <a:p>
            <a:pPr algn="just"/>
            <a:endParaRPr lang="en-US" sz="2000" dirty="0">
              <a:latin typeface="Times New Roman" pitchFamily="18" charset="0"/>
              <a:cs typeface="Times New Roman" pitchFamily="18" charset="0"/>
            </a:endParaRPr>
          </a:p>
          <a:p>
            <a:pPr algn="just">
              <a:lnSpc>
                <a:spcPct val="150000"/>
              </a:lnSpc>
            </a:pPr>
            <a:r>
              <a:rPr lang="en-US" sz="2000" dirty="0">
                <a:latin typeface="Times New Roman" pitchFamily="18" charset="0"/>
                <a:cs typeface="Times New Roman" pitchFamily="18" charset="0"/>
              </a:rPr>
              <a:t>1. Prepare with foundation knowledge in a project domain through </a:t>
            </a:r>
          </a:p>
          <a:p>
            <a:pPr algn="just">
              <a:lnSpc>
                <a:spcPct val="150000"/>
              </a:lnSpc>
            </a:pPr>
            <a:r>
              <a:rPr lang="en-US" sz="2000" dirty="0">
                <a:latin typeface="Times New Roman" pitchFamily="18" charset="0"/>
                <a:cs typeface="Times New Roman" pitchFamily="18" charset="0"/>
              </a:rPr>
              <a:t>     designing, and implementing.</a:t>
            </a:r>
          </a:p>
          <a:p>
            <a:pPr algn="just">
              <a:lnSpc>
                <a:spcPct val="150000"/>
              </a:lnSpc>
            </a:pPr>
            <a:r>
              <a:rPr lang="en-US" sz="2000" dirty="0">
                <a:latin typeface="Times New Roman" pitchFamily="18" charset="0"/>
                <a:cs typeface="Times New Roman" pitchFamily="18" charset="0"/>
              </a:rPr>
              <a:t>2. Introduce to various emerging fields in electronics and communication.</a:t>
            </a:r>
          </a:p>
          <a:p>
            <a:pPr algn="just">
              <a:lnSpc>
                <a:spcPct val="150000"/>
              </a:lnSpc>
            </a:pPr>
            <a:r>
              <a:rPr lang="en-US" sz="2000" dirty="0">
                <a:latin typeface="Times New Roman" pitchFamily="18" charset="0"/>
                <a:cs typeface="Times New Roman" pitchFamily="18" charset="0"/>
              </a:rPr>
              <a:t>3. Provide an opportunity to exercise the creative and innovative qualities, to  </a:t>
            </a:r>
          </a:p>
          <a:p>
            <a:pPr algn="just">
              <a:lnSpc>
                <a:spcPct val="150000"/>
              </a:lnSpc>
            </a:pPr>
            <a:r>
              <a:rPr lang="en-US" sz="2000" dirty="0">
                <a:latin typeface="Times New Roman" pitchFamily="18" charset="0"/>
                <a:cs typeface="Times New Roman" pitchFamily="18" charset="0"/>
              </a:rPr>
              <a:t>    become technopreneurs in group project environment.</a:t>
            </a:r>
          </a:p>
          <a:p>
            <a:pPr algn="just">
              <a:lnSpc>
                <a:spcPct val="150000"/>
              </a:lnSpc>
            </a:pPr>
            <a:r>
              <a:rPr lang="en-US" sz="2000" dirty="0">
                <a:latin typeface="Times New Roman" pitchFamily="18" charset="0"/>
                <a:cs typeface="Times New Roman" pitchFamily="18" charset="0"/>
              </a:rPr>
              <a:t>4. Have hands-on experience in the related field so that students can </a:t>
            </a:r>
          </a:p>
          <a:p>
            <a:pPr algn="just">
              <a:lnSpc>
                <a:spcPct val="150000"/>
              </a:lnSpc>
            </a:pPr>
            <a:r>
              <a:rPr lang="en-US" sz="2000" dirty="0">
                <a:latin typeface="Times New Roman" pitchFamily="18" charset="0"/>
                <a:cs typeface="Times New Roman" pitchFamily="18" charset="0"/>
              </a:rPr>
              <a:t>    integrate and reinforce what has been taught in the classroom.</a:t>
            </a:r>
          </a:p>
        </p:txBody>
      </p:sp>
    </p:spTree>
    <p:extLst>
      <p:ext uri="{BB962C8B-B14F-4D97-AF65-F5344CB8AC3E}">
        <p14:creationId xmlns:p14="http://schemas.microsoft.com/office/powerpoint/2010/main" val="3543521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5000" y="457200"/>
            <a:ext cx="4718536" cy="523220"/>
          </a:xfrm>
          <a:prstGeom prst="rect">
            <a:avLst/>
          </a:prstGeom>
        </p:spPr>
        <p:txBody>
          <a:bodyPr wrap="none">
            <a:spAutoFit/>
          </a:bodyPr>
          <a:lstStyle/>
          <a:p>
            <a:r>
              <a:rPr lang="en-US" sz="2800" b="1" dirty="0">
                <a:latin typeface="Times New Roman" panose="02020603050405020304" pitchFamily="18" charset="0"/>
                <a:cs typeface="Times New Roman" panose="02020603050405020304" pitchFamily="18" charset="0"/>
              </a:rPr>
              <a:t>FLOW OF PRESENTATION</a:t>
            </a:r>
            <a:endParaRPr lang="en-US" sz="2800" dirty="0"/>
          </a:p>
        </p:txBody>
      </p:sp>
      <p:sp>
        <p:nvSpPr>
          <p:cNvPr id="3" name="Rectangle 2"/>
          <p:cNvSpPr/>
          <p:nvPr/>
        </p:nvSpPr>
        <p:spPr>
          <a:xfrm>
            <a:off x="546931" y="1056620"/>
            <a:ext cx="8153400" cy="5016758"/>
          </a:xfrm>
          <a:prstGeom prst="rect">
            <a:avLst/>
          </a:prstGeom>
        </p:spPr>
        <p:txBody>
          <a:bodyPr wrap="square">
            <a:spAutoFit/>
          </a:bodyPr>
          <a:lstStyle/>
          <a:p>
            <a:pPr marL="457200" indent="-457200" algn="just">
              <a:buClrTx/>
              <a:buFont typeface="+mj-lt"/>
              <a:buAutoNum type="arabicPeriod"/>
            </a:pPr>
            <a:endParaRPr lang="en-US" sz="2000" dirty="0">
              <a:latin typeface="Times New Roman"/>
              <a:cs typeface="Times New Roman"/>
            </a:endParaRPr>
          </a:p>
          <a:p>
            <a:pPr marL="457200" indent="-457200" algn="just">
              <a:buClrTx/>
              <a:buFont typeface="+mj-lt"/>
              <a:buAutoNum type="arabicPeriod"/>
            </a:pPr>
            <a:r>
              <a:rPr lang="en-US" sz="2000" dirty="0">
                <a:latin typeface="Times New Roman"/>
                <a:cs typeface="Times New Roman"/>
              </a:rPr>
              <a:t>ABSTRACT</a:t>
            </a:r>
          </a:p>
          <a:p>
            <a:pPr marL="457200" indent="-457200" algn="just">
              <a:buClrTx/>
              <a:buFont typeface="+mj-lt"/>
              <a:buAutoNum type="arabicPeriod"/>
            </a:pPr>
            <a:r>
              <a:rPr lang="en-US" sz="2000" dirty="0">
                <a:latin typeface="Times New Roman"/>
                <a:cs typeface="Times New Roman"/>
              </a:rPr>
              <a:t>INTRODUCTION</a:t>
            </a:r>
          </a:p>
          <a:p>
            <a:pPr marL="457200" indent="-457200" algn="just">
              <a:buClrTx/>
              <a:buFont typeface="+mj-lt"/>
              <a:buAutoNum type="arabicPeriod"/>
            </a:pPr>
            <a:r>
              <a:rPr lang="en-US" sz="2000" dirty="0">
                <a:latin typeface="Times New Roman"/>
                <a:cs typeface="Times New Roman"/>
              </a:rPr>
              <a:t>LITERATURE SURVEY</a:t>
            </a:r>
          </a:p>
          <a:p>
            <a:pPr marL="457200" indent="-457200" algn="just">
              <a:buClrTx/>
              <a:buFont typeface="+mj-lt"/>
              <a:buAutoNum type="arabicPeriod"/>
            </a:pPr>
            <a:r>
              <a:rPr lang="en-US" sz="2000" dirty="0">
                <a:latin typeface="Times New Roman"/>
                <a:cs typeface="Times New Roman"/>
              </a:rPr>
              <a:t>PROBLEM IDENTIFICATION</a:t>
            </a:r>
          </a:p>
          <a:p>
            <a:pPr marL="457200" indent="-457200" algn="just">
              <a:buFont typeface="+mj-lt"/>
              <a:buAutoNum type="arabicPeriod"/>
            </a:pPr>
            <a:r>
              <a:rPr lang="en-US" sz="2000" dirty="0">
                <a:latin typeface="Times New Roman"/>
                <a:cs typeface="Times New Roman"/>
              </a:rPr>
              <a:t>OBJECTIVES </a:t>
            </a:r>
          </a:p>
          <a:p>
            <a:pPr marL="457200" indent="-457200" algn="just">
              <a:buClrTx/>
              <a:buFont typeface="+mj-lt"/>
              <a:buAutoNum type="arabicPeriod"/>
            </a:pPr>
            <a:r>
              <a:rPr lang="en-US" sz="2000" dirty="0">
                <a:latin typeface="Times New Roman"/>
                <a:cs typeface="Times New Roman"/>
              </a:rPr>
              <a:t>METHODOLOGY  </a:t>
            </a:r>
            <a:r>
              <a:rPr lang="en-US" sz="2000" i="1" dirty="0" err="1">
                <a:latin typeface="Times New Roman"/>
                <a:cs typeface="Times New Roman"/>
              </a:rPr>
              <a:t>i</a:t>
            </a:r>
            <a:r>
              <a:rPr lang="en-US" sz="2000" i="1" dirty="0">
                <a:latin typeface="Times New Roman"/>
                <a:cs typeface="Times New Roman"/>
              </a:rPr>
              <a:t>) BLOCK DIAGRAM   ii) FLOWCHART</a:t>
            </a:r>
          </a:p>
          <a:p>
            <a:pPr marL="457200" indent="-457200" algn="just">
              <a:buClrTx/>
              <a:buFont typeface="+mj-lt"/>
              <a:buAutoNum type="arabicPeriod"/>
            </a:pPr>
            <a:r>
              <a:rPr lang="en-US" sz="2000" dirty="0">
                <a:latin typeface="Times New Roman"/>
                <a:cs typeface="Times New Roman"/>
              </a:rPr>
              <a:t>COMPONENTS     </a:t>
            </a:r>
            <a:r>
              <a:rPr lang="en-US" sz="2000" i="1" dirty="0" err="1">
                <a:latin typeface="Times New Roman"/>
                <a:cs typeface="Times New Roman"/>
              </a:rPr>
              <a:t>i</a:t>
            </a:r>
            <a:r>
              <a:rPr lang="en-US" sz="2000" i="1" dirty="0">
                <a:latin typeface="Times New Roman"/>
                <a:cs typeface="Times New Roman"/>
              </a:rPr>
              <a:t>)HARDWARE  ii)SOFTWARE</a:t>
            </a:r>
          </a:p>
          <a:p>
            <a:pPr marL="457200" indent="-457200" algn="just">
              <a:buClrTx/>
              <a:buFont typeface="+mj-lt"/>
              <a:buAutoNum type="arabicPeriod"/>
            </a:pPr>
            <a:r>
              <a:rPr lang="en-US" sz="2000" dirty="0">
                <a:latin typeface="Times New Roman"/>
                <a:cs typeface="Times New Roman"/>
              </a:rPr>
              <a:t>RESULT</a:t>
            </a:r>
          </a:p>
          <a:p>
            <a:pPr marL="457200" indent="-457200" algn="just">
              <a:buClrTx/>
              <a:buFont typeface="+mj-lt"/>
              <a:buAutoNum type="arabicPeriod"/>
            </a:pPr>
            <a:r>
              <a:rPr lang="en-US" sz="2000" dirty="0">
                <a:latin typeface="Times New Roman"/>
                <a:cs typeface="Times New Roman"/>
              </a:rPr>
              <a:t>APPLICATIONS</a:t>
            </a:r>
          </a:p>
          <a:p>
            <a:pPr marL="457200" indent="-457200" algn="just">
              <a:buClrTx/>
              <a:buFont typeface="+mj-lt"/>
              <a:buAutoNum type="arabicPeriod"/>
            </a:pPr>
            <a:r>
              <a:rPr lang="en-US" sz="2000" dirty="0">
                <a:latin typeface="Times New Roman"/>
                <a:cs typeface="Times New Roman"/>
              </a:rPr>
              <a:t>ADVANTAGES</a:t>
            </a:r>
          </a:p>
          <a:p>
            <a:pPr marL="457200" indent="-457200" algn="just">
              <a:buClrTx/>
              <a:buFont typeface="+mj-lt"/>
              <a:buAutoNum type="arabicPeriod"/>
            </a:pPr>
            <a:r>
              <a:rPr lang="en-US" sz="2000" dirty="0">
                <a:latin typeface="Times New Roman"/>
                <a:cs typeface="Times New Roman"/>
              </a:rPr>
              <a:t>LIMITATIONS</a:t>
            </a:r>
          </a:p>
          <a:p>
            <a:pPr marL="457200" indent="-457200" algn="just">
              <a:buClrTx/>
              <a:buFont typeface="+mj-lt"/>
              <a:buAutoNum type="arabicPeriod"/>
            </a:pPr>
            <a:r>
              <a:rPr lang="en-US" sz="2000" dirty="0">
                <a:latin typeface="Times New Roman"/>
                <a:cs typeface="Times New Roman"/>
              </a:rPr>
              <a:t>FUTURE SCOPE</a:t>
            </a:r>
          </a:p>
          <a:p>
            <a:pPr marL="457200" indent="-457200" algn="just">
              <a:buClrTx/>
              <a:buFont typeface="+mj-lt"/>
              <a:buAutoNum type="arabicPeriod"/>
            </a:pPr>
            <a:r>
              <a:rPr lang="en-US" sz="2000" dirty="0">
                <a:latin typeface="Times New Roman"/>
                <a:cs typeface="Times New Roman"/>
              </a:rPr>
              <a:t>CONCLUSION</a:t>
            </a:r>
          </a:p>
          <a:p>
            <a:pPr marL="457200" indent="-457200" algn="just">
              <a:buClrTx/>
              <a:buFont typeface="+mj-lt"/>
              <a:buAutoNum type="arabicPeriod"/>
            </a:pPr>
            <a:r>
              <a:rPr lang="en-US" sz="2000" dirty="0">
                <a:latin typeface="Times New Roman"/>
                <a:cs typeface="Times New Roman"/>
              </a:rPr>
              <a:t> REFERENCES</a:t>
            </a:r>
          </a:p>
          <a:p>
            <a:pPr marL="457200" indent="-457200" algn="just">
              <a:buClrTx/>
              <a:buFont typeface="+mj-lt"/>
              <a:buAutoNum type="arabicPeriod"/>
            </a:pPr>
            <a:endParaRPr lang="en-US" sz="2000" i="1" dirty="0">
              <a:latin typeface="Times New Roman"/>
              <a:cs typeface="Times New Roman"/>
            </a:endParaRPr>
          </a:p>
        </p:txBody>
      </p:sp>
    </p:spTree>
    <p:extLst>
      <p:ext uri="{BB962C8B-B14F-4D97-AF65-F5344CB8AC3E}">
        <p14:creationId xmlns:p14="http://schemas.microsoft.com/office/powerpoint/2010/main" val="4173407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3400" y="457200"/>
            <a:ext cx="8305800" cy="5715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3048000" y="685800"/>
            <a:ext cx="2743200" cy="523220"/>
          </a:xfrm>
          <a:prstGeom prst="rect">
            <a:avLst/>
          </a:prstGeom>
        </p:spPr>
        <p:txBody>
          <a:bodyPr wrap="square">
            <a:spAutoFit/>
          </a:bodyPr>
          <a:lstStyle/>
          <a:p>
            <a:pPr algn="ctr"/>
            <a:r>
              <a:rPr lang="en-US" sz="2800" b="1" dirty="0">
                <a:latin typeface="Times New Roman" pitchFamily="18" charset="0"/>
                <a:cs typeface="Times New Roman" pitchFamily="18" charset="0"/>
              </a:rPr>
              <a:t>ABSTRACT</a:t>
            </a:r>
            <a:endParaRPr lang="en-US" sz="2800" dirty="0">
              <a:latin typeface="Times New Roman" pitchFamily="18" charset="0"/>
              <a:cs typeface="Times New Roman" pitchFamily="18" charset="0"/>
            </a:endParaRPr>
          </a:p>
        </p:txBody>
      </p:sp>
      <p:sp>
        <p:nvSpPr>
          <p:cNvPr id="8" name="Rectangle 7"/>
          <p:cNvSpPr/>
          <p:nvPr/>
        </p:nvSpPr>
        <p:spPr>
          <a:xfrm>
            <a:off x="228600" y="1523999"/>
            <a:ext cx="8610600" cy="3268652"/>
          </a:xfrm>
          <a:prstGeom prst="rect">
            <a:avLst/>
          </a:prstGeom>
        </p:spPr>
        <p:txBody>
          <a:bodyPr wrap="square">
            <a:spAutoFit/>
          </a:bodyPr>
          <a:lstStyle/>
          <a:p>
            <a:pPr algn="just">
              <a:lnSpc>
                <a:spcPct val="150000"/>
              </a:lnSpc>
            </a:pPr>
            <a:r>
              <a:rPr lang="en-US" sz="2000" dirty="0">
                <a:latin typeface="Times New Roman" pitchFamily="18" charset="0"/>
                <a:cs typeface="Times New Roman" pitchFamily="18" charset="0"/>
              </a:rPr>
              <a:t>This project proposes a Smart Vehicle Ignition System that integrates RFID, facial recognition, and fingerprint sensing to ensure secure vehicle access. Ignition is enabled only after successful multi-factor authentication. Post-ignition, alcohol detection ensures the driver's sobriety, and a tilt sensor monitors vehicle stability for accident prevention. If alcohol is detected or abnormal tilt occurs, the system triggers alerts and disables the engine. This enhances both vehicle security and driver safety, making it ideal for personal use and fleet management.</a:t>
            </a:r>
          </a:p>
        </p:txBody>
      </p:sp>
    </p:spTree>
    <p:extLst>
      <p:ext uri="{BB962C8B-B14F-4D97-AF65-F5344CB8AC3E}">
        <p14:creationId xmlns:p14="http://schemas.microsoft.com/office/powerpoint/2010/main" val="1641384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19400" y="381000"/>
            <a:ext cx="3429000" cy="523220"/>
          </a:xfrm>
          <a:prstGeom prst="rect">
            <a:avLst/>
          </a:prstGeom>
        </p:spPr>
        <p:txBody>
          <a:bodyPr wrap="square">
            <a:spAutoFit/>
          </a:bodyPr>
          <a:lstStyle/>
          <a:p>
            <a:pPr algn="ctr"/>
            <a:r>
              <a:rPr lang="en-US" sz="2800" b="1" dirty="0">
                <a:latin typeface="Times New Roman" pitchFamily="18" charset="0"/>
                <a:cs typeface="Times New Roman" pitchFamily="18" charset="0"/>
              </a:rPr>
              <a:t>INTRODUCTION</a:t>
            </a:r>
          </a:p>
        </p:txBody>
      </p:sp>
      <p:sp>
        <p:nvSpPr>
          <p:cNvPr id="4" name="Rectangle 3"/>
          <p:cNvSpPr/>
          <p:nvPr/>
        </p:nvSpPr>
        <p:spPr>
          <a:xfrm>
            <a:off x="304800" y="1443841"/>
            <a:ext cx="8610600" cy="4708981"/>
          </a:xfrm>
          <a:prstGeom prst="rect">
            <a:avLst/>
          </a:prstGeom>
        </p:spPr>
        <p:txBody>
          <a:bodyPr wrap="square">
            <a:spAutoFit/>
          </a:bodyPr>
          <a:lstStyle/>
          <a:p>
            <a:pPr marL="285750" indent="-285750" algn="just">
              <a:buFont typeface="Wingdings" pitchFamily="2" charset="2"/>
              <a:buChar char="Ø"/>
            </a:pPr>
            <a:r>
              <a:rPr lang="en-US" sz="2000" dirty="0">
                <a:latin typeface="Times New Roman" pitchFamily="18" charset="0"/>
                <a:cs typeface="Times New Roman" pitchFamily="18" charset="0"/>
              </a:rPr>
              <a:t>In today's world, vehicle security and driver safety have become major concerns due to rising incidents of vehicle theft, unauthorized access, and drunk driving accidents. </a:t>
            </a:r>
          </a:p>
          <a:p>
            <a:pPr marL="285750" indent="-285750" algn="just">
              <a:buFont typeface="Wingdings" pitchFamily="2" charset="2"/>
              <a:buChar char="Ø"/>
            </a:pPr>
            <a:endParaRPr lang="en-US" sz="2000" dirty="0">
              <a:latin typeface="Times New Roman" pitchFamily="18" charset="0"/>
              <a:cs typeface="Times New Roman" pitchFamily="18" charset="0"/>
            </a:endParaRPr>
          </a:p>
          <a:p>
            <a:pPr marL="285750" indent="-285750" algn="just">
              <a:buFont typeface="Wingdings" pitchFamily="2" charset="2"/>
              <a:buChar char="Ø"/>
            </a:pPr>
            <a:r>
              <a:rPr lang="en-US" sz="2000" dirty="0">
                <a:latin typeface="Times New Roman" pitchFamily="18" charset="0"/>
                <a:cs typeface="Times New Roman" pitchFamily="18" charset="0"/>
              </a:rPr>
              <a:t>The Smart Vehicle Ignition System is an innovative solution that enhances vehicle security and safety by integrating biometric authentication, RFID verification, alcohol detection, and </a:t>
            </a:r>
            <a:r>
              <a:rPr lang="en-US" sz="2000" dirty="0" err="1">
                <a:latin typeface="Times New Roman" pitchFamily="18" charset="0"/>
                <a:cs typeface="Times New Roman" pitchFamily="18" charset="0"/>
              </a:rPr>
              <a:t>IoT</a:t>
            </a:r>
            <a:r>
              <a:rPr lang="en-US" sz="2000" dirty="0">
                <a:latin typeface="Times New Roman" pitchFamily="18" charset="0"/>
                <a:cs typeface="Times New Roman" pitchFamily="18" charset="0"/>
              </a:rPr>
              <a:t>-based monitoring.</a:t>
            </a:r>
          </a:p>
          <a:p>
            <a:pPr algn="just"/>
            <a:r>
              <a:rPr lang="en-US" sz="2000" dirty="0">
                <a:latin typeface="Times New Roman" pitchFamily="18" charset="0"/>
                <a:cs typeface="Times New Roman" pitchFamily="18" charset="0"/>
              </a:rPr>
              <a:t>  </a:t>
            </a:r>
          </a:p>
          <a:p>
            <a:pPr marL="285750" indent="-285750" algn="just">
              <a:buFont typeface="Wingdings" pitchFamily="2" charset="2"/>
              <a:buChar char="Ø"/>
            </a:pPr>
            <a:r>
              <a:rPr lang="en-US" sz="2000" dirty="0">
                <a:latin typeface="Times New Roman" pitchFamily="18" charset="0"/>
                <a:cs typeface="Times New Roman" pitchFamily="18" charset="0"/>
              </a:rPr>
              <a:t>This system ensures that only authorized users can start the vehicle using fingerprint recognition and RFID authentication.</a:t>
            </a:r>
          </a:p>
          <a:p>
            <a:pPr marL="285750" indent="-285750" algn="just">
              <a:buFont typeface="Wingdings" pitchFamily="2" charset="2"/>
              <a:buChar char="Ø"/>
            </a:pPr>
            <a:endParaRPr lang="en-US" sz="2000" dirty="0">
              <a:latin typeface="Times New Roman" pitchFamily="18" charset="0"/>
              <a:cs typeface="Times New Roman" pitchFamily="18" charset="0"/>
            </a:endParaRPr>
          </a:p>
          <a:p>
            <a:pPr marL="285750" indent="-285750" algn="just">
              <a:buFont typeface="Wingdings" pitchFamily="2" charset="2"/>
              <a:buChar char="Ø"/>
            </a:pPr>
            <a:r>
              <a:rPr lang="en-US" sz="2000" dirty="0">
                <a:latin typeface="Times New Roman" pitchFamily="18" charset="0"/>
                <a:cs typeface="Times New Roman" pitchFamily="18" charset="0"/>
              </a:rPr>
              <a:t> Additionally, it incorporates safety checks such as alcohol detection.</a:t>
            </a:r>
          </a:p>
          <a:p>
            <a:pPr marL="285750" indent="-285750" algn="just">
              <a:buFont typeface="Wingdings" pitchFamily="2" charset="2"/>
              <a:buChar char="Ø"/>
            </a:pPr>
            <a:endParaRPr lang="en-US" sz="2000" dirty="0">
              <a:latin typeface="Times New Roman" pitchFamily="18" charset="0"/>
              <a:cs typeface="Times New Roman" pitchFamily="18" charset="0"/>
            </a:endParaRPr>
          </a:p>
          <a:p>
            <a:pPr marL="285750" indent="-285750" algn="just">
              <a:buFont typeface="Wingdings" pitchFamily="2" charset="2"/>
              <a:buChar char="Ø"/>
            </a:pPr>
            <a:r>
              <a:rPr lang="en-US" sz="2000" dirty="0">
                <a:latin typeface="Times New Roman" pitchFamily="18" charset="0"/>
                <a:cs typeface="Times New Roman" pitchFamily="18" charset="0"/>
              </a:rPr>
              <a:t> If any violation is detected, the system restricts ignition and sends alerts to the concerned authorities or vehicle owners. </a:t>
            </a:r>
          </a:p>
        </p:txBody>
      </p:sp>
    </p:spTree>
    <p:extLst>
      <p:ext uri="{BB962C8B-B14F-4D97-AF65-F5344CB8AC3E}">
        <p14:creationId xmlns:p14="http://schemas.microsoft.com/office/powerpoint/2010/main" val="1538861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2209800" y="0"/>
            <a:ext cx="5943600" cy="523220"/>
          </a:xfrm>
          <a:prstGeom prst="rect">
            <a:avLst/>
          </a:prstGeom>
        </p:spPr>
        <p:txBody>
          <a:bodyPr wrap="square">
            <a:spAutoFit/>
          </a:bodyPr>
          <a:lstStyle/>
          <a:p>
            <a:r>
              <a:rPr lang="en-GB" sz="2800" b="1" dirty="0">
                <a:latin typeface="Times New Roman" pitchFamily="18" charset="0"/>
                <a:cs typeface="Times New Roman" pitchFamily="18" charset="0"/>
              </a:rPr>
              <a:t>LITERATURE SURVEY</a:t>
            </a:r>
            <a:endParaRPr lang="en-US" sz="2800" dirty="0">
              <a:latin typeface="Times New Roman" pitchFamily="18" charset="0"/>
              <a:cs typeface="Times New Roman" pitchFamily="18" charset="0"/>
            </a:endParaRPr>
          </a:p>
        </p:txBody>
      </p:sp>
      <p:graphicFrame>
        <p:nvGraphicFramePr>
          <p:cNvPr id="3" name="Table 2">
            <a:extLst>
              <a:ext uri="{FF2B5EF4-FFF2-40B4-BE49-F238E27FC236}">
                <a16:creationId xmlns:a16="http://schemas.microsoft.com/office/drawing/2014/main" id="{BE42B565-9464-D3F2-9113-7E9C118EB6E7}"/>
              </a:ext>
            </a:extLst>
          </p:cNvPr>
          <p:cNvGraphicFramePr>
            <a:graphicFrameLocks noGrp="1"/>
          </p:cNvGraphicFramePr>
          <p:nvPr>
            <p:extLst>
              <p:ext uri="{D42A27DB-BD31-4B8C-83A1-F6EECF244321}">
                <p14:modId xmlns:p14="http://schemas.microsoft.com/office/powerpoint/2010/main" val="1652300144"/>
              </p:ext>
            </p:extLst>
          </p:nvPr>
        </p:nvGraphicFramePr>
        <p:xfrm>
          <a:off x="132619" y="807721"/>
          <a:ext cx="8878761" cy="5840041"/>
        </p:xfrm>
        <a:graphic>
          <a:graphicData uri="http://schemas.openxmlformats.org/drawingml/2006/table">
            <a:tbl>
              <a:tblPr firstRow="1" firstCol="1" bandRow="1">
                <a:tableStyleId>{5940675A-B579-460E-94D1-54222C63F5DA}</a:tableStyleId>
              </a:tblPr>
              <a:tblGrid>
                <a:gridCol w="533400">
                  <a:extLst>
                    <a:ext uri="{9D8B030D-6E8A-4147-A177-3AD203B41FA5}">
                      <a16:colId xmlns:a16="http://schemas.microsoft.com/office/drawing/2014/main" val="1271410145"/>
                    </a:ext>
                  </a:extLst>
                </a:gridCol>
                <a:gridCol w="2713907">
                  <a:extLst>
                    <a:ext uri="{9D8B030D-6E8A-4147-A177-3AD203B41FA5}">
                      <a16:colId xmlns:a16="http://schemas.microsoft.com/office/drawing/2014/main" val="1731106628"/>
                    </a:ext>
                  </a:extLst>
                </a:gridCol>
                <a:gridCol w="2815727">
                  <a:extLst>
                    <a:ext uri="{9D8B030D-6E8A-4147-A177-3AD203B41FA5}">
                      <a16:colId xmlns:a16="http://schemas.microsoft.com/office/drawing/2014/main" val="1481474426"/>
                    </a:ext>
                  </a:extLst>
                </a:gridCol>
                <a:gridCol w="2815727">
                  <a:extLst>
                    <a:ext uri="{9D8B030D-6E8A-4147-A177-3AD203B41FA5}">
                      <a16:colId xmlns:a16="http://schemas.microsoft.com/office/drawing/2014/main" val="318204683"/>
                    </a:ext>
                  </a:extLst>
                </a:gridCol>
              </a:tblGrid>
              <a:tr h="249319">
                <a:tc>
                  <a:txBody>
                    <a:bodyPr/>
                    <a:lstStyle/>
                    <a:p>
                      <a:pPr algn="ctr">
                        <a:lnSpc>
                          <a:spcPct val="115000"/>
                        </a:lnSpc>
                        <a:spcAft>
                          <a:spcPts val="1000"/>
                        </a:spcAft>
                        <a:buNone/>
                      </a:pPr>
                      <a:r>
                        <a:rPr lang="en-IN" sz="1400" dirty="0" err="1">
                          <a:effectLst/>
                          <a:latin typeface="Times New Roman" panose="02020603050405020304" pitchFamily="18" charset="0"/>
                          <a:cs typeface="Times New Roman" panose="02020603050405020304" pitchFamily="18" charset="0"/>
                        </a:rPr>
                        <a:t>S.No</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tc>
                  <a:txBody>
                    <a:bodyPr/>
                    <a:lstStyle/>
                    <a:p>
                      <a:pPr algn="ct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Paper Title</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tc>
                  <a:txBody>
                    <a:bodyPr/>
                    <a:lstStyle/>
                    <a:p>
                      <a:pPr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Technology Used</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tc>
                  <a:txBody>
                    <a:bodyPr/>
                    <a:lstStyle/>
                    <a:p>
                      <a:pPr algn="ct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Research Gap</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extLst>
                  <a:ext uri="{0D108BD9-81ED-4DB2-BD59-A6C34878D82A}">
                    <a16:rowId xmlns:a16="http://schemas.microsoft.com/office/drawing/2014/main" val="1433166773"/>
                  </a:ext>
                </a:extLst>
              </a:tr>
              <a:tr h="1152760">
                <a:tc>
                  <a:txBody>
                    <a:bodyPr/>
                    <a:lstStyle/>
                    <a:p>
                      <a:pP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tc>
                  <a:txBody>
                    <a:bodyPr/>
                    <a:lstStyle/>
                    <a:p>
                      <a:pP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Design of Smart Vehicle Security System Using Finger Print Authentication with Integrated GSM and GPS Modules</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tc>
                  <a:txBody>
                    <a:bodyPr/>
                    <a:lstStyle/>
                    <a:p>
                      <a:pP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Biometric (Fingerprint), GPS, GSM</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tc>
                  <a:txBody>
                    <a:bodyPr/>
                    <a:lstStyle/>
                    <a:p>
                      <a:pP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Does not explore advanced anti-spoofing techniques or multifactor authentication beyond fingerprint.</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extLst>
                  <a:ext uri="{0D108BD9-81ED-4DB2-BD59-A6C34878D82A}">
                    <a16:rowId xmlns:a16="http://schemas.microsoft.com/office/drawing/2014/main" val="214184909"/>
                  </a:ext>
                </a:extLst>
              </a:tr>
              <a:tr h="1047652">
                <a:tc>
                  <a:txBody>
                    <a:bodyPr/>
                    <a:lstStyle/>
                    <a:p>
                      <a:pPr>
                        <a:lnSpc>
                          <a:spcPct val="115000"/>
                        </a:lnSpc>
                        <a:spcAft>
                          <a:spcPts val="1000"/>
                        </a:spcAft>
                        <a:buNone/>
                      </a:pPr>
                      <a:r>
                        <a:rPr lang="en-IN" sz="1400" dirty="0">
                          <a:effectLst/>
                          <a:latin typeface="Times New Roman" panose="02020603050405020304" pitchFamily="18" charset="0"/>
                          <a:ea typeface="Calibri" panose="020F0502020204030204" pitchFamily="34" charset="0"/>
                          <a:cs typeface="Times New Roman" panose="02020603050405020304" pitchFamily="18" charset="0"/>
                        </a:rPr>
                        <a:t>2</a:t>
                      </a:r>
                    </a:p>
                  </a:txBody>
                  <a:tcPr marL="65242" marR="65242" marT="0" marB="0"/>
                </a:tc>
                <a:tc>
                  <a:txBody>
                    <a:bodyPr/>
                    <a:lstStyle/>
                    <a:p>
                      <a:pP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Driver identification system based on a machine learning operations platform using controller area network data</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tc>
                  <a:txBody>
                    <a:bodyPr/>
                    <a:lstStyle/>
                    <a:p>
                      <a:pP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CAN Bus Data, ML Platform, Biometric Profiling</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tc>
                  <a:txBody>
                    <a:bodyPr/>
                    <a:lstStyle/>
                    <a:p>
                      <a:pP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Focuses on pattern recognition; lacks real-time biometric integration such as iris or facial recognition.</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extLst>
                  <a:ext uri="{0D108BD9-81ED-4DB2-BD59-A6C34878D82A}">
                    <a16:rowId xmlns:a16="http://schemas.microsoft.com/office/drawing/2014/main" val="3077504649"/>
                  </a:ext>
                </a:extLst>
              </a:tr>
              <a:tr h="1047652">
                <a:tc>
                  <a:txBody>
                    <a:bodyPr/>
                    <a:lstStyle/>
                    <a:p>
                      <a:pP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tc>
                  <a:txBody>
                    <a:bodyPr/>
                    <a:lstStyle/>
                    <a:p>
                      <a:pPr>
                        <a:lnSpc>
                          <a:spcPct val="115000"/>
                        </a:lnSpc>
                        <a:spcAft>
                          <a:spcPts val="1000"/>
                        </a:spcAft>
                        <a:buNone/>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Comprehensive IoT-Based Vehicle Security: License Verification and Biometric Authentication</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tc>
                  <a:txBody>
                    <a:bodyPr/>
                    <a:lstStyle/>
                    <a:p>
                      <a:pP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IoT, Fingerprint Scanner, Cloud</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tc>
                  <a:txBody>
                    <a:bodyPr/>
                    <a:lstStyle/>
                    <a:p>
                      <a:pP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Limited to license and fingerprint; absence of fallback systems and no attack resilience benchmarking.</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extLst>
                  <a:ext uri="{0D108BD9-81ED-4DB2-BD59-A6C34878D82A}">
                    <a16:rowId xmlns:a16="http://schemas.microsoft.com/office/drawing/2014/main" val="2935709825"/>
                  </a:ext>
                </a:extLst>
              </a:tr>
              <a:tr h="1028896">
                <a:tc>
                  <a:txBody>
                    <a:bodyPr/>
                    <a:lstStyle/>
                    <a:p>
                      <a:pP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4</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tc>
                  <a:txBody>
                    <a:bodyPr/>
                    <a:lstStyle/>
                    <a:p>
                      <a:pPr>
                        <a:lnSpc>
                          <a:spcPct val="115000"/>
                        </a:lnSpc>
                        <a:spcAft>
                          <a:spcPts val="1000"/>
                        </a:spcAft>
                        <a:buNone/>
                      </a:pPr>
                      <a:r>
                        <a:rPr lang="en-IN" sz="1400" dirty="0" err="1">
                          <a:effectLst/>
                          <a:latin typeface="Times New Roman" panose="02020603050405020304" pitchFamily="18" charset="0"/>
                          <a:ea typeface="Calibri" panose="020F0502020204030204" pitchFamily="34" charset="0"/>
                          <a:cs typeface="Times New Roman" panose="02020603050405020304" pitchFamily="18" charset="0"/>
                        </a:rPr>
                        <a:t>DynamicLip</a:t>
                      </a:r>
                      <a:r>
                        <a:rPr lang="en-IN" sz="1400" dirty="0">
                          <a:effectLst/>
                          <a:latin typeface="Times New Roman" panose="02020603050405020304" pitchFamily="18" charset="0"/>
                          <a:ea typeface="Calibri" panose="020F0502020204030204" pitchFamily="34" charset="0"/>
                          <a:cs typeface="Times New Roman" panose="02020603050405020304" pitchFamily="18" charset="0"/>
                        </a:rPr>
                        <a:t>: Shape-Independent Continuous Authentication via Lip Articulator Dynamics</a:t>
                      </a:r>
                    </a:p>
                  </a:txBody>
                  <a:tcPr marL="65242" marR="65242" marT="0" marB="0"/>
                </a:tc>
                <a:tc>
                  <a:txBody>
                    <a:bodyPr/>
                    <a:lstStyle/>
                    <a:p>
                      <a:pP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Lip-motion Biometrics, AI, Continuous Authentication</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tc>
                  <a:txBody>
                    <a:bodyPr/>
                    <a:lstStyle/>
                    <a:p>
                      <a:pP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Primarily conceptual and not yet adapted for embedded vehicular hardware or rugged environments.</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extLst>
                  <a:ext uri="{0D108BD9-81ED-4DB2-BD59-A6C34878D82A}">
                    <a16:rowId xmlns:a16="http://schemas.microsoft.com/office/drawing/2014/main" val="2570015373"/>
                  </a:ext>
                </a:extLst>
              </a:tr>
              <a:tr h="1313762">
                <a:tc>
                  <a:txBody>
                    <a:bodyPr/>
                    <a:lstStyle/>
                    <a:p>
                      <a:pP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5</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tc>
                  <a:txBody>
                    <a:bodyPr/>
                    <a:lstStyle/>
                    <a:p>
                      <a:pPr>
                        <a:lnSpc>
                          <a:spcPct val="115000"/>
                        </a:lnSpc>
                        <a:spcAft>
                          <a:spcPts val="1000"/>
                        </a:spcAft>
                        <a:buNone/>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Navigating The Battleground: An Analysis Of Adversarial Threats And Protections In Deep Neural Networks</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tc>
                  <a:txBody>
                    <a:bodyPr/>
                    <a:lstStyle/>
                    <a:p>
                      <a:pPr>
                        <a:lnSpc>
                          <a:spcPct val="115000"/>
                        </a:lnSpc>
                        <a:spcAft>
                          <a:spcPts val="1000"/>
                        </a:spcAft>
                        <a:buNone/>
                      </a:pPr>
                      <a:r>
                        <a:rPr lang="en-IN" sz="1400">
                          <a:effectLst/>
                          <a:latin typeface="Times New Roman" panose="02020603050405020304" pitchFamily="18" charset="0"/>
                          <a:cs typeface="Times New Roman" panose="02020603050405020304" pitchFamily="18" charset="0"/>
                        </a:rPr>
                        <a:t>Deep Neural Networks, Biometric Protection, Adversarial AI</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tc>
                  <a:txBody>
                    <a:bodyPr/>
                    <a:lstStyle/>
                    <a:p>
                      <a:pPr>
                        <a:lnSpc>
                          <a:spcPct val="115000"/>
                        </a:lnSpc>
                        <a:spcAft>
                          <a:spcPts val="1000"/>
                        </a:spcAft>
                        <a:buNone/>
                      </a:pPr>
                      <a:r>
                        <a:rPr lang="en-IN" sz="1400" dirty="0">
                          <a:effectLst/>
                          <a:latin typeface="Times New Roman" panose="02020603050405020304" pitchFamily="18" charset="0"/>
                          <a:cs typeface="Times New Roman" panose="02020603050405020304" pitchFamily="18" charset="0"/>
                        </a:rPr>
                        <a:t>High-level analysis; lacks implementation specifics for biometric vehicle security in practice.</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5242" marR="65242" marT="0" marB="0"/>
                </a:tc>
                <a:extLst>
                  <a:ext uri="{0D108BD9-81ED-4DB2-BD59-A6C34878D82A}">
                    <a16:rowId xmlns:a16="http://schemas.microsoft.com/office/drawing/2014/main" val="894603066"/>
                  </a:ext>
                </a:extLst>
              </a:tr>
            </a:tbl>
          </a:graphicData>
        </a:graphic>
      </p:graphicFrame>
    </p:spTree>
    <p:extLst>
      <p:ext uri="{BB962C8B-B14F-4D97-AF65-F5344CB8AC3E}">
        <p14:creationId xmlns:p14="http://schemas.microsoft.com/office/powerpoint/2010/main" val="1233528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57400" y="228600"/>
            <a:ext cx="4837735" cy="523220"/>
          </a:xfrm>
          <a:prstGeom prst="rect">
            <a:avLst/>
          </a:prstGeom>
        </p:spPr>
        <p:txBody>
          <a:bodyPr wrap="none">
            <a:spAutoFit/>
          </a:bodyPr>
          <a:lstStyle/>
          <a:p>
            <a:pPr lvl="1" algn="ctr"/>
            <a:r>
              <a:rPr lang="en-US" sz="2800" b="1" dirty="0">
                <a:latin typeface="Times New Roman" pitchFamily="18" charset="0"/>
                <a:cs typeface="Times New Roman" pitchFamily="18" charset="0"/>
              </a:rPr>
              <a:t>PROBLEM  STATEMENT</a:t>
            </a:r>
          </a:p>
        </p:txBody>
      </p:sp>
      <p:sp>
        <p:nvSpPr>
          <p:cNvPr id="4" name="Rectangle 3"/>
          <p:cNvSpPr/>
          <p:nvPr/>
        </p:nvSpPr>
        <p:spPr>
          <a:xfrm>
            <a:off x="381000" y="838200"/>
            <a:ext cx="8534400" cy="5511765"/>
          </a:xfrm>
          <a:prstGeom prst="rect">
            <a:avLst/>
          </a:prstGeom>
        </p:spPr>
        <p:txBody>
          <a:bodyPr wrap="square">
            <a:spAutoFit/>
          </a:bodyPr>
          <a:lstStyle/>
          <a:p>
            <a:pPr marL="342900" lvl="0" indent="-342900" algn="just">
              <a:lnSpc>
                <a:spcPct val="150000"/>
              </a:lnSpc>
              <a:spcAft>
                <a:spcPts val="1000"/>
              </a:spcAft>
              <a:buFont typeface="+mj-lt"/>
              <a:buAutoNum type="arabicPeriod"/>
              <a:tabLst>
                <a:tab pos="457200" algn="l"/>
              </a:tabLst>
            </a:pPr>
            <a:r>
              <a:rPr lang="en-IN" sz="1500" b="1" dirty="0">
                <a:effectLst/>
                <a:latin typeface="Times New Roman" panose="02020603050405020304" pitchFamily="18" charset="0"/>
                <a:ea typeface="Times New Roman" panose="02020603050405020304" pitchFamily="18" charset="0"/>
                <a:cs typeface="Times New Roman" panose="02020603050405020304" pitchFamily="18" charset="0"/>
              </a:rPr>
              <a:t>Single-Factor Vulnerability:</a:t>
            </a:r>
            <a:r>
              <a:rPr lang="en-IN" sz="1500" dirty="0">
                <a:effectLst/>
                <a:latin typeface="Times New Roman" panose="02020603050405020304" pitchFamily="18" charset="0"/>
                <a:ea typeface="Times New Roman" panose="02020603050405020304" pitchFamily="18" charset="0"/>
                <a:cs typeface="Times New Roman" panose="02020603050405020304" pitchFamily="18" charset="0"/>
              </a:rPr>
              <a:t> Many systems rely on a single point of authentication (e.g., key, basic key fob), which, if compromised (stolen, duplicated, hacked), grants full access to the vehicle.</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tabLst>
                <a:tab pos="457200" algn="l"/>
              </a:tabLst>
            </a:pPr>
            <a:r>
              <a:rPr lang="en-IN" sz="1500" b="1" dirty="0">
                <a:effectLst/>
                <a:latin typeface="Times New Roman" panose="02020603050405020304" pitchFamily="18" charset="0"/>
                <a:ea typeface="Times New Roman" panose="02020603050405020304" pitchFamily="18" charset="0"/>
                <a:cs typeface="Times New Roman" panose="02020603050405020304" pitchFamily="18" charset="0"/>
              </a:rPr>
              <a:t>Reactive Rather Than Proactive Safety:</a:t>
            </a:r>
            <a:r>
              <a:rPr lang="en-IN" sz="1500" dirty="0">
                <a:effectLst/>
                <a:latin typeface="Times New Roman" panose="02020603050405020304" pitchFamily="18" charset="0"/>
                <a:ea typeface="Times New Roman" panose="02020603050405020304" pitchFamily="18" charset="0"/>
                <a:cs typeface="Times New Roman" panose="02020603050405020304" pitchFamily="18" charset="0"/>
              </a:rPr>
              <a:t> Most standard systems lack features to proactively prevent unsafe driving conditions (like drunk driving) or to automatically alert in case of an accident.</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tabLst>
                <a:tab pos="457200" algn="l"/>
              </a:tabLst>
            </a:pPr>
            <a:r>
              <a:rPr lang="en-IN" sz="1500" b="1" dirty="0">
                <a:effectLst/>
                <a:latin typeface="Times New Roman" panose="02020603050405020304" pitchFamily="18" charset="0"/>
                <a:ea typeface="Times New Roman" panose="02020603050405020304" pitchFamily="18" charset="0"/>
                <a:cs typeface="Times New Roman" panose="02020603050405020304" pitchFamily="18" charset="0"/>
              </a:rPr>
              <a:t>Limited Owner Awareness and Control:</a:t>
            </a:r>
            <a:r>
              <a:rPr lang="en-IN" sz="1500" dirty="0">
                <a:effectLst/>
                <a:latin typeface="Times New Roman" panose="02020603050405020304" pitchFamily="18" charset="0"/>
                <a:ea typeface="Times New Roman" panose="02020603050405020304" pitchFamily="18" charset="0"/>
                <a:cs typeface="Times New Roman" panose="02020603050405020304" pitchFamily="18" charset="0"/>
              </a:rPr>
              <a:t> Owners often have minimal real-time information about their vehicle's status when they are away from it and lack immediate remote control options in case of theft or unauthorized use beyond a basic alarm sound.</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tabLst>
                <a:tab pos="457200" algn="l"/>
              </a:tabLst>
            </a:pPr>
            <a:r>
              <a:rPr lang="en-IN" sz="1500" b="1" dirty="0">
                <a:effectLst/>
                <a:latin typeface="Times New Roman" panose="02020603050405020304" pitchFamily="18" charset="0"/>
                <a:ea typeface="Times New Roman" panose="02020603050405020304" pitchFamily="18" charset="0"/>
                <a:cs typeface="Times New Roman" panose="02020603050405020304" pitchFamily="18" charset="0"/>
              </a:rPr>
              <a:t>No Intrinsic Driver Validation:</a:t>
            </a:r>
            <a:r>
              <a:rPr lang="en-IN" sz="1500" dirty="0">
                <a:effectLst/>
                <a:latin typeface="Times New Roman" panose="02020603050405020304" pitchFamily="18" charset="0"/>
                <a:ea typeface="Times New Roman" panose="02020603050405020304" pitchFamily="18" charset="0"/>
                <a:cs typeface="Times New Roman" panose="02020603050405020304" pitchFamily="18" charset="0"/>
              </a:rPr>
              <a:t> Standard systems do not verify if the person attempting to operate the vehicle is indeed authorized or possesses a valid license for that specific context (though RFID here is a simplified proxy).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IN" sz="1500" dirty="0">
                <a:effectLst/>
                <a:latin typeface="Times New Roman" panose="02020603050405020304" pitchFamily="18" charset="0"/>
                <a:ea typeface="Times New Roman" panose="02020603050405020304" pitchFamily="18" charset="0"/>
                <a:cs typeface="Times New Roman" panose="02020603050405020304" pitchFamily="18" charset="0"/>
              </a:rPr>
              <a:t>This project aims to directly address these identified problems by developing a multi-faceted system that is significantly harder to compromise, actively contributes to driver safety, and provides enhanced owner interaction and control.</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dirty="0"/>
              <a:t> </a:t>
            </a:r>
          </a:p>
        </p:txBody>
      </p:sp>
    </p:spTree>
    <p:extLst>
      <p:ext uri="{BB962C8B-B14F-4D97-AF65-F5344CB8AC3E}">
        <p14:creationId xmlns:p14="http://schemas.microsoft.com/office/powerpoint/2010/main" val="3626452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76600" y="457200"/>
            <a:ext cx="2457724" cy="523220"/>
          </a:xfrm>
          <a:prstGeom prst="rect">
            <a:avLst/>
          </a:prstGeom>
        </p:spPr>
        <p:txBody>
          <a:bodyPr wrap="none">
            <a:spAutoFit/>
          </a:bodyPr>
          <a:lstStyle/>
          <a:p>
            <a:r>
              <a:rPr lang="en-IN" sz="2800" b="1" dirty="0">
                <a:latin typeface="Times New Roman" panose="02020603050405020304" pitchFamily="18" charset="0"/>
                <a:cs typeface="Times New Roman" panose="02020603050405020304" pitchFamily="18" charset="0"/>
              </a:rPr>
              <a:t>OBJECTIVES</a:t>
            </a:r>
            <a:endParaRPr lang="en-US" sz="2800" dirty="0"/>
          </a:p>
        </p:txBody>
      </p:sp>
      <p:sp>
        <p:nvSpPr>
          <p:cNvPr id="3" name="Rectangle 2"/>
          <p:cNvSpPr/>
          <p:nvPr/>
        </p:nvSpPr>
        <p:spPr>
          <a:xfrm>
            <a:off x="-304800" y="1371600"/>
            <a:ext cx="8915400" cy="2535566"/>
          </a:xfrm>
          <a:prstGeom prst="rect">
            <a:avLst/>
          </a:prstGeom>
        </p:spPr>
        <p:txBody>
          <a:bodyPr wrap="square">
            <a:spAutoFit/>
          </a:bodyPr>
          <a:lstStyle/>
          <a:p>
            <a:pPr lvl="2" algn="just">
              <a:lnSpc>
                <a:spcPct val="150000"/>
              </a:lnSpc>
            </a:pPr>
            <a:r>
              <a:rPr lang="en-IN" sz="1800" dirty="0">
                <a:effectLst/>
                <a:latin typeface="Times New Roman" panose="02020603050405020304" pitchFamily="18" charset="0"/>
                <a:ea typeface="Times New Roman" panose="02020603050405020304" pitchFamily="18" charset="0"/>
              </a:rPr>
              <a:t>1. To design and implement a robust multi-level authentication system for vehicle ignition.</a:t>
            </a:r>
          </a:p>
          <a:p>
            <a:pPr lvl="2" algn="just">
              <a:lnSpc>
                <a:spcPct val="150000"/>
              </a:lnSpc>
            </a:pPr>
            <a:r>
              <a:rPr lang="en-IN" dirty="0">
                <a:latin typeface="Times New Roman" panose="02020603050405020304" pitchFamily="18" charset="0"/>
                <a:cs typeface="Times New Roman" pitchFamily="18" charset="0"/>
              </a:rPr>
              <a:t>2. </a:t>
            </a:r>
            <a:r>
              <a:rPr lang="en-IN" sz="1800" dirty="0">
                <a:effectLst/>
                <a:latin typeface="Times New Roman" panose="02020603050405020304" pitchFamily="18" charset="0"/>
                <a:ea typeface="Times New Roman" panose="02020603050405020304" pitchFamily="18" charset="0"/>
              </a:rPr>
              <a:t>To integrate essential driver safety features</a:t>
            </a:r>
            <a:r>
              <a:rPr lang="en-IN" sz="1800" dirty="0">
                <a:effectLst/>
                <a:latin typeface="Times New Roman" panose="02020603050405020304" pitchFamily="18" charset="0"/>
                <a:ea typeface="Times New Roman" panose="02020603050405020304" pitchFamily="18" charset="0"/>
                <a:cs typeface="Times New Roman" pitchFamily="18" charset="0"/>
              </a:rPr>
              <a:t> like alcohol detection and accident detection.</a:t>
            </a:r>
          </a:p>
          <a:p>
            <a:pPr lvl="2" algn="just">
              <a:lnSpc>
                <a:spcPct val="150000"/>
              </a:lnSpc>
            </a:pPr>
            <a:r>
              <a:rPr lang="en-IN" dirty="0">
                <a:latin typeface="Times New Roman" panose="02020603050405020304" pitchFamily="18" charset="0"/>
                <a:cs typeface="Times New Roman" pitchFamily="18" charset="0"/>
              </a:rPr>
              <a:t>3. </a:t>
            </a:r>
            <a:r>
              <a:rPr lang="en-IN" sz="1800" dirty="0">
                <a:effectLst/>
                <a:latin typeface="Times New Roman" panose="02020603050405020304" pitchFamily="18" charset="0"/>
                <a:ea typeface="Times New Roman" panose="02020603050405020304" pitchFamily="18" charset="0"/>
              </a:rPr>
              <a:t>To develop an IoT-based remote monitoring and control system using the ESP32's Wi-Fi capabilities and the Blynk platform.</a:t>
            </a:r>
            <a:r>
              <a:rPr lang="en-IN" dirty="0">
                <a:latin typeface="Times New Roman" panose="02020603050405020304" pitchFamily="18" charset="0"/>
                <a:cs typeface="Times New Roman" pitchFamily="18" charset="0"/>
              </a:rPr>
              <a:t> </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886583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TextBox 1"/>
          <p:cNvSpPr txBox="1"/>
          <p:nvPr/>
        </p:nvSpPr>
        <p:spPr>
          <a:xfrm>
            <a:off x="2590800" y="228600"/>
            <a:ext cx="3454792" cy="523220"/>
          </a:xfrm>
          <a:prstGeom prst="rect">
            <a:avLst/>
          </a:prstGeom>
          <a:noFill/>
        </p:spPr>
        <p:txBody>
          <a:bodyPr wrap="none" rtlCol="0">
            <a:spAutoFit/>
          </a:bodyPr>
          <a:lstStyle/>
          <a:p>
            <a:pPr algn="ctr"/>
            <a:r>
              <a:rPr lang="en-US" sz="2800" b="1" dirty="0">
                <a:latin typeface="Times New Roman" pitchFamily="18" charset="0"/>
                <a:cs typeface="Times New Roman" pitchFamily="18" charset="0"/>
              </a:rPr>
              <a:t> BLOCK DIAGRAM</a:t>
            </a:r>
          </a:p>
        </p:txBody>
      </p:sp>
      <p:grpSp>
        <p:nvGrpSpPr>
          <p:cNvPr id="4" name="Canvas 137"/>
          <p:cNvGrpSpPr/>
          <p:nvPr/>
        </p:nvGrpSpPr>
        <p:grpSpPr>
          <a:xfrm>
            <a:off x="1066800" y="1296838"/>
            <a:ext cx="9456946" cy="10133162"/>
            <a:chOff x="670590" y="206586"/>
            <a:chExt cx="6577935" cy="9011709"/>
          </a:xfrm>
        </p:grpSpPr>
        <p:sp>
          <p:nvSpPr>
            <p:cNvPr id="6" name="Rectangle 5"/>
            <p:cNvSpPr/>
            <p:nvPr/>
          </p:nvSpPr>
          <p:spPr>
            <a:xfrm>
              <a:off x="962025" y="4617720"/>
              <a:ext cx="6286500" cy="4600575"/>
            </a:xfrm>
            <a:prstGeom prst="rect">
              <a:avLst/>
            </a:prstGeom>
            <a:noFill/>
            <a:ln>
              <a:noFill/>
            </a:ln>
          </p:spPr>
        </p:sp>
        <p:sp>
          <p:nvSpPr>
            <p:cNvPr id="7" name="Rectangle 6"/>
            <p:cNvSpPr>
              <a:spLocks noChangeArrowheads="1"/>
            </p:cNvSpPr>
            <p:nvPr/>
          </p:nvSpPr>
          <p:spPr bwMode="auto">
            <a:xfrm>
              <a:off x="2333600" y="1038210"/>
              <a:ext cx="1133500" cy="2826127"/>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rot="0" vert="horz" wrap="square" lIns="91440" tIns="45720" rIns="91440" bIns="45720" anchor="ctr" anchorCtr="0" upright="1">
              <a:noAutofit/>
            </a:bodyPr>
            <a:lstStyle/>
            <a:p>
              <a:pPr marL="0" marR="0" algn="ctr">
                <a:lnSpc>
                  <a:spcPct val="115000"/>
                </a:lnSpc>
                <a:spcBef>
                  <a:spcPts val="0"/>
                </a:spcBef>
                <a:spcAft>
                  <a:spcPts val="1000"/>
                </a:spcAft>
              </a:pPr>
              <a:r>
                <a:rPr lang="en-GB" sz="1100" dirty="0">
                  <a:effectLst/>
                  <a:ea typeface="Calibri"/>
                  <a:cs typeface="Times New Roman"/>
                </a:rPr>
                <a:t>ESP32 MICRO CONTROLLER</a:t>
              </a:r>
              <a:endParaRPr lang="en-US" sz="1100" dirty="0">
                <a:effectLst/>
                <a:ea typeface="Calibri"/>
                <a:cs typeface="Times New Roman"/>
              </a:endParaRPr>
            </a:p>
          </p:txBody>
        </p:sp>
        <p:sp>
          <p:nvSpPr>
            <p:cNvPr id="8" name="Rectangle 7"/>
            <p:cNvSpPr>
              <a:spLocks noChangeArrowheads="1"/>
            </p:cNvSpPr>
            <p:nvPr/>
          </p:nvSpPr>
          <p:spPr bwMode="auto">
            <a:xfrm>
              <a:off x="670590" y="2817155"/>
              <a:ext cx="1196310" cy="447710"/>
            </a:xfrm>
            <a:prstGeom prst="rect">
              <a:avLst/>
            </a:prstGeom>
            <a:ln>
              <a:headEnd/>
              <a:tailEnd/>
            </a:ln>
          </p:spPr>
          <p:style>
            <a:lnRef idx="1">
              <a:schemeClr val="dk1"/>
            </a:lnRef>
            <a:fillRef idx="2">
              <a:schemeClr val="dk1"/>
            </a:fillRef>
            <a:effectRef idx="1">
              <a:schemeClr val="dk1"/>
            </a:effectRef>
            <a:fontRef idx="minor">
              <a:schemeClr val="dk1"/>
            </a:fontRef>
          </p:style>
          <p:txBody>
            <a:bodyPr rot="0" vert="horz" wrap="square" lIns="91440" tIns="45720" rIns="91440" bIns="45720" anchor="ctr" anchorCtr="0" upright="1">
              <a:noAutofit/>
            </a:bodyPr>
            <a:lstStyle/>
            <a:p>
              <a:pPr marL="0" marR="0" algn="ctr">
                <a:lnSpc>
                  <a:spcPct val="115000"/>
                </a:lnSpc>
                <a:spcBef>
                  <a:spcPts val="0"/>
                </a:spcBef>
                <a:spcAft>
                  <a:spcPts val="1000"/>
                </a:spcAft>
              </a:pPr>
              <a:r>
                <a:rPr lang="en-GB" sz="1000" b="1">
                  <a:effectLst/>
                  <a:latin typeface="Times New Roman"/>
                  <a:ea typeface="Calibri"/>
                  <a:cs typeface="Tunga"/>
                </a:rPr>
                <a:t>Tilt sensor</a:t>
              </a:r>
              <a:endParaRPr lang="en-US" sz="1200">
                <a:effectLst/>
                <a:latin typeface="Times New Roman"/>
                <a:ea typeface="Times New Roman"/>
              </a:endParaRPr>
            </a:p>
          </p:txBody>
        </p:sp>
        <p:cxnSp>
          <p:nvCxnSpPr>
            <p:cNvPr id="9" name="Straight Arrow Connector 8"/>
            <p:cNvCxnSpPr>
              <a:cxnSpLocks noChangeShapeType="1"/>
            </p:cNvCxnSpPr>
            <p:nvPr/>
          </p:nvCxnSpPr>
          <p:spPr bwMode="auto">
            <a:xfrm flipV="1">
              <a:off x="3467100" y="1390608"/>
              <a:ext cx="485700" cy="9600"/>
            </a:xfrm>
            <a:prstGeom prst="straightConnector1">
              <a:avLst/>
            </a:prstGeom>
            <a:ln>
              <a:headEnd/>
              <a:tailEnd type="arrow" w="med" len="med"/>
            </a:ln>
          </p:spPr>
          <p:style>
            <a:lnRef idx="3">
              <a:schemeClr val="dk1"/>
            </a:lnRef>
            <a:fillRef idx="0">
              <a:schemeClr val="dk1"/>
            </a:fillRef>
            <a:effectRef idx="2">
              <a:schemeClr val="dk1"/>
            </a:effectRef>
            <a:fontRef idx="minor">
              <a:schemeClr val="tx1"/>
            </a:fontRef>
          </p:style>
        </p:cxnSp>
        <p:sp>
          <p:nvSpPr>
            <p:cNvPr id="10" name="Rectangle 9"/>
            <p:cNvSpPr>
              <a:spLocks noChangeArrowheads="1"/>
            </p:cNvSpPr>
            <p:nvPr/>
          </p:nvSpPr>
          <p:spPr bwMode="auto">
            <a:xfrm>
              <a:off x="2277330" y="206586"/>
              <a:ext cx="1189770" cy="447710"/>
            </a:xfrm>
            <a:prstGeom prst="rect">
              <a:avLst/>
            </a:prstGeom>
            <a:ln>
              <a:headEnd/>
              <a:tailEnd/>
            </a:ln>
          </p:spPr>
          <p:style>
            <a:lnRef idx="1">
              <a:schemeClr val="accent2"/>
            </a:lnRef>
            <a:fillRef idx="3">
              <a:schemeClr val="accent2"/>
            </a:fillRef>
            <a:effectRef idx="2">
              <a:schemeClr val="accent2"/>
            </a:effectRef>
            <a:fontRef idx="minor">
              <a:schemeClr val="lt1"/>
            </a:fontRef>
          </p:style>
          <p:txBody>
            <a:bodyPr rot="0" vert="horz" wrap="square" lIns="91440" tIns="45720" rIns="91440" bIns="45720" anchor="ctr" anchorCtr="0" upright="1">
              <a:noAutofit/>
            </a:bodyPr>
            <a:lstStyle/>
            <a:p>
              <a:pPr marL="0" marR="0" algn="ctr">
                <a:lnSpc>
                  <a:spcPct val="115000"/>
                </a:lnSpc>
                <a:spcBef>
                  <a:spcPts val="0"/>
                </a:spcBef>
                <a:spcAft>
                  <a:spcPts val="1000"/>
                </a:spcAft>
              </a:pPr>
              <a:r>
                <a:rPr lang="en-IN" sz="1100">
                  <a:effectLst/>
                  <a:latin typeface="Times New Roman"/>
                  <a:ea typeface="Calibri"/>
                  <a:cs typeface="Tunga"/>
                </a:rPr>
                <a:t>Power supply</a:t>
              </a:r>
              <a:endParaRPr lang="en-US" sz="1200">
                <a:effectLst/>
                <a:latin typeface="Times New Roman"/>
                <a:ea typeface="Times New Roman"/>
              </a:endParaRPr>
            </a:p>
          </p:txBody>
        </p:sp>
        <p:sp>
          <p:nvSpPr>
            <p:cNvPr id="11" name="Rectangle 10"/>
            <p:cNvSpPr>
              <a:spLocks noChangeArrowheads="1"/>
            </p:cNvSpPr>
            <p:nvPr/>
          </p:nvSpPr>
          <p:spPr bwMode="auto">
            <a:xfrm>
              <a:off x="671200" y="2205110"/>
              <a:ext cx="1196310" cy="433129"/>
            </a:xfrm>
            <a:prstGeom prst="rect">
              <a:avLst/>
            </a:prstGeom>
            <a:ln>
              <a:headEnd/>
              <a:tailEnd/>
            </a:ln>
          </p:spPr>
          <p:style>
            <a:lnRef idx="1">
              <a:schemeClr val="dk1"/>
            </a:lnRef>
            <a:fillRef idx="2">
              <a:schemeClr val="dk1"/>
            </a:fillRef>
            <a:effectRef idx="1">
              <a:schemeClr val="dk1"/>
            </a:effectRef>
            <a:fontRef idx="minor">
              <a:schemeClr val="dk1"/>
            </a:fontRef>
          </p:style>
          <p:txBody>
            <a:bodyPr rot="0" vert="horz" wrap="square" lIns="91440" tIns="45720" rIns="91440" bIns="45720" anchor="ctr" anchorCtr="0" upright="1">
              <a:noAutofit/>
            </a:bodyPr>
            <a:lstStyle/>
            <a:p>
              <a:pPr marL="0" marR="0" algn="ctr">
                <a:lnSpc>
                  <a:spcPct val="115000"/>
                </a:lnSpc>
                <a:spcBef>
                  <a:spcPts val="0"/>
                </a:spcBef>
                <a:spcAft>
                  <a:spcPts val="1000"/>
                </a:spcAft>
              </a:pPr>
              <a:r>
                <a:rPr lang="en-GB" sz="1000" b="1" dirty="0">
                  <a:effectLst/>
                  <a:latin typeface="Times New Roman"/>
                  <a:ea typeface="Calibri"/>
                  <a:cs typeface="Tunga"/>
                </a:rPr>
                <a:t>Finger print sensor</a:t>
              </a:r>
              <a:endParaRPr lang="en-US" sz="1100" dirty="0">
                <a:effectLst/>
                <a:ea typeface="Calibri"/>
                <a:cs typeface="Times New Roman"/>
              </a:endParaRPr>
            </a:p>
          </p:txBody>
        </p:sp>
        <p:cxnSp>
          <p:nvCxnSpPr>
            <p:cNvPr id="12" name="Straight Arrow Connector 11"/>
            <p:cNvCxnSpPr>
              <a:cxnSpLocks noChangeShapeType="1"/>
            </p:cNvCxnSpPr>
            <p:nvPr/>
          </p:nvCxnSpPr>
          <p:spPr bwMode="auto">
            <a:xfrm>
              <a:off x="1867510" y="2443235"/>
              <a:ext cx="466700" cy="0"/>
            </a:xfrm>
            <a:prstGeom prst="straightConnector1">
              <a:avLst/>
            </a:prstGeom>
            <a:ln>
              <a:headEnd/>
              <a:tailEnd type="arrow" w="med" len="med"/>
            </a:ln>
          </p:spPr>
          <p:style>
            <a:lnRef idx="2">
              <a:schemeClr val="dk1"/>
            </a:lnRef>
            <a:fillRef idx="0">
              <a:schemeClr val="dk1"/>
            </a:fillRef>
            <a:effectRef idx="1">
              <a:schemeClr val="dk1"/>
            </a:effectRef>
            <a:fontRef idx="minor">
              <a:schemeClr val="tx1"/>
            </a:fontRef>
          </p:style>
        </p:cxnSp>
        <p:cxnSp>
          <p:nvCxnSpPr>
            <p:cNvPr id="13" name="Straight Arrow Connector 12"/>
            <p:cNvCxnSpPr>
              <a:cxnSpLocks noChangeShapeType="1"/>
            </p:cNvCxnSpPr>
            <p:nvPr/>
          </p:nvCxnSpPr>
          <p:spPr bwMode="auto">
            <a:xfrm>
              <a:off x="2868975" y="654296"/>
              <a:ext cx="0" cy="38391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14" name="Rectangle 13"/>
            <p:cNvSpPr>
              <a:spLocks noChangeArrowheads="1"/>
            </p:cNvSpPr>
            <p:nvPr/>
          </p:nvSpPr>
          <p:spPr bwMode="auto">
            <a:xfrm>
              <a:off x="3992432" y="1126004"/>
              <a:ext cx="1541593" cy="482644"/>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rot="0" vert="horz" wrap="square" lIns="91440" tIns="45720" rIns="91440" bIns="45720" anchor="ctr" anchorCtr="0" upright="1">
              <a:noAutofit/>
            </a:bodyPr>
            <a:lstStyle/>
            <a:p>
              <a:pPr marL="0" marR="0" algn="ctr">
                <a:lnSpc>
                  <a:spcPct val="115000"/>
                </a:lnSpc>
                <a:spcBef>
                  <a:spcPts val="0"/>
                </a:spcBef>
                <a:spcAft>
                  <a:spcPts val="1000"/>
                </a:spcAft>
              </a:pPr>
              <a:r>
                <a:rPr lang="en-GB" sz="1100">
                  <a:effectLst/>
                  <a:latin typeface="Times New Roman"/>
                  <a:ea typeface="Calibri"/>
                </a:rPr>
                <a:t>LCD display</a:t>
              </a:r>
              <a:endParaRPr lang="en-US" sz="1200">
                <a:effectLst/>
                <a:latin typeface="Times New Roman"/>
                <a:ea typeface="Times New Roman"/>
              </a:endParaRPr>
            </a:p>
          </p:txBody>
        </p:sp>
        <p:cxnSp>
          <p:nvCxnSpPr>
            <p:cNvPr id="15" name="Straight Arrow Connector 14"/>
            <p:cNvCxnSpPr>
              <a:cxnSpLocks noChangeShapeType="1"/>
            </p:cNvCxnSpPr>
            <p:nvPr/>
          </p:nvCxnSpPr>
          <p:spPr bwMode="auto">
            <a:xfrm>
              <a:off x="1868120" y="3026705"/>
              <a:ext cx="466090" cy="0"/>
            </a:xfrm>
            <a:prstGeom prst="straightConnector1">
              <a:avLst/>
            </a:prstGeom>
            <a:ln>
              <a:headEnd/>
              <a:tailEnd type="arrow" w="med" len="med"/>
            </a:ln>
          </p:spPr>
          <p:style>
            <a:lnRef idx="2">
              <a:schemeClr val="dk1"/>
            </a:lnRef>
            <a:fillRef idx="0">
              <a:schemeClr val="dk1"/>
            </a:fillRef>
            <a:effectRef idx="1">
              <a:schemeClr val="dk1"/>
            </a:effectRef>
            <a:fontRef idx="minor">
              <a:schemeClr val="tx1"/>
            </a:fontRef>
          </p:style>
        </p:cxnSp>
        <p:grpSp>
          <p:nvGrpSpPr>
            <p:cNvPr id="16" name="Group 15"/>
            <p:cNvGrpSpPr/>
            <p:nvPr/>
          </p:nvGrpSpPr>
          <p:grpSpPr>
            <a:xfrm>
              <a:off x="3467100" y="1846875"/>
              <a:ext cx="2066925" cy="1266979"/>
              <a:chOff x="3467100" y="1846875"/>
              <a:chExt cx="2066925" cy="1266979"/>
            </a:xfrm>
          </p:grpSpPr>
          <p:sp>
            <p:nvSpPr>
              <p:cNvPr id="29" name="Rectangle 28"/>
              <p:cNvSpPr>
                <a:spLocks noChangeArrowheads="1"/>
              </p:cNvSpPr>
              <p:nvPr/>
            </p:nvSpPr>
            <p:spPr bwMode="auto">
              <a:xfrm>
                <a:off x="3977932" y="2638239"/>
                <a:ext cx="1541145" cy="475615"/>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rot="0" vert="horz" wrap="square" lIns="91440" tIns="45720" rIns="91440" bIns="45720" anchor="ctr" anchorCtr="0" upright="1">
                <a:noAutofit/>
              </a:bodyPr>
              <a:lstStyle/>
              <a:p>
                <a:pPr marL="0" marR="0" algn="ctr">
                  <a:lnSpc>
                    <a:spcPct val="115000"/>
                  </a:lnSpc>
                  <a:spcBef>
                    <a:spcPts val="0"/>
                  </a:spcBef>
                  <a:spcAft>
                    <a:spcPts val="1000"/>
                  </a:spcAft>
                </a:pPr>
                <a:r>
                  <a:rPr lang="en-IN" sz="1100">
                    <a:effectLst/>
                    <a:latin typeface="Times New Roman"/>
                    <a:ea typeface="Calibri"/>
                  </a:rPr>
                  <a:t>Mobile Notification </a:t>
                </a:r>
                <a:endParaRPr lang="en-US" sz="1200">
                  <a:effectLst/>
                  <a:latin typeface="Times New Roman"/>
                  <a:ea typeface="Times New Roman"/>
                </a:endParaRPr>
              </a:p>
            </p:txBody>
          </p:sp>
          <p:cxnSp>
            <p:nvCxnSpPr>
              <p:cNvPr id="30" name="Straight Arrow Connector 29"/>
              <p:cNvCxnSpPr>
                <a:cxnSpLocks noChangeShapeType="1"/>
              </p:cNvCxnSpPr>
              <p:nvPr/>
            </p:nvCxnSpPr>
            <p:spPr bwMode="auto">
              <a:xfrm>
                <a:off x="3467100" y="2085933"/>
                <a:ext cx="510832" cy="0"/>
              </a:xfrm>
              <a:prstGeom prst="straightConnector1">
                <a:avLst/>
              </a:prstGeom>
              <a:ln>
                <a:headEnd/>
                <a:tailEnd type="arrow" w="med" len="med"/>
              </a:ln>
            </p:spPr>
            <p:style>
              <a:lnRef idx="2">
                <a:schemeClr val="dk1"/>
              </a:lnRef>
              <a:fillRef idx="0">
                <a:schemeClr val="dk1"/>
              </a:fillRef>
              <a:effectRef idx="1">
                <a:schemeClr val="dk1"/>
              </a:effectRef>
              <a:fontRef idx="minor">
                <a:schemeClr val="tx1"/>
              </a:fontRef>
            </p:style>
          </p:cxnSp>
          <p:sp>
            <p:nvSpPr>
              <p:cNvPr id="31" name="Rectangle 30"/>
              <p:cNvSpPr>
                <a:spLocks noChangeArrowheads="1"/>
              </p:cNvSpPr>
              <p:nvPr/>
            </p:nvSpPr>
            <p:spPr bwMode="auto">
              <a:xfrm>
                <a:off x="3992880" y="1846875"/>
                <a:ext cx="1541145" cy="4826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rot="0" vert="horz" wrap="square" lIns="91440" tIns="45720" rIns="91440" bIns="45720" anchor="ctr" anchorCtr="0" upright="1">
                <a:noAutofit/>
              </a:bodyPr>
              <a:lstStyle/>
              <a:p>
                <a:pPr marL="0" marR="0" algn="ctr">
                  <a:lnSpc>
                    <a:spcPct val="115000"/>
                  </a:lnSpc>
                  <a:spcBef>
                    <a:spcPts val="0"/>
                  </a:spcBef>
                  <a:spcAft>
                    <a:spcPts val="1000"/>
                  </a:spcAft>
                </a:pPr>
                <a:r>
                  <a:rPr lang="en-GB" sz="1100">
                    <a:effectLst/>
                    <a:latin typeface="Times New Roman"/>
                    <a:ea typeface="Calibri"/>
                  </a:rPr>
                  <a:t>Blynk server</a:t>
                </a:r>
                <a:endParaRPr lang="en-US" sz="1200">
                  <a:effectLst/>
                  <a:latin typeface="Times New Roman"/>
                  <a:ea typeface="Times New Roman"/>
                </a:endParaRPr>
              </a:p>
            </p:txBody>
          </p:sp>
          <p:cxnSp>
            <p:nvCxnSpPr>
              <p:cNvPr id="32" name="Straight Arrow Connector 31"/>
              <p:cNvCxnSpPr>
                <a:cxnSpLocks noChangeShapeType="1"/>
                <a:stCxn id="31" idx="2"/>
              </p:cNvCxnSpPr>
              <p:nvPr/>
            </p:nvCxnSpPr>
            <p:spPr bwMode="auto">
              <a:xfrm>
                <a:off x="4763453" y="2329475"/>
                <a:ext cx="0" cy="308764"/>
              </a:xfrm>
              <a:prstGeom prst="straightConnector1">
                <a:avLst/>
              </a:prstGeom>
              <a:ln>
                <a:headEnd/>
                <a:tailEnd type="arrow" w="med" len="med"/>
              </a:ln>
            </p:spPr>
            <p:style>
              <a:lnRef idx="2">
                <a:schemeClr val="dk1"/>
              </a:lnRef>
              <a:fillRef idx="0">
                <a:schemeClr val="dk1"/>
              </a:fillRef>
              <a:effectRef idx="1">
                <a:schemeClr val="dk1"/>
              </a:effectRef>
              <a:fontRef idx="minor">
                <a:schemeClr val="tx1"/>
              </a:fontRef>
            </p:style>
          </p:cxnSp>
        </p:grpSp>
        <p:sp>
          <p:nvSpPr>
            <p:cNvPr id="17" name="Rectangle 16"/>
            <p:cNvSpPr>
              <a:spLocks noChangeArrowheads="1"/>
            </p:cNvSpPr>
            <p:nvPr/>
          </p:nvSpPr>
          <p:spPr bwMode="auto">
            <a:xfrm>
              <a:off x="671195" y="1517945"/>
              <a:ext cx="1195705" cy="433070"/>
            </a:xfrm>
            <a:prstGeom prst="rect">
              <a:avLst/>
            </a:prstGeom>
            <a:ln>
              <a:headEnd/>
              <a:tailEnd/>
            </a:ln>
          </p:spPr>
          <p:style>
            <a:lnRef idx="1">
              <a:schemeClr val="dk1"/>
            </a:lnRef>
            <a:fillRef idx="2">
              <a:schemeClr val="dk1"/>
            </a:fillRef>
            <a:effectRef idx="1">
              <a:schemeClr val="dk1"/>
            </a:effectRef>
            <a:fontRef idx="minor">
              <a:schemeClr val="dk1"/>
            </a:fontRef>
          </p:style>
          <p:txBody>
            <a:bodyPr rot="0" vert="horz" wrap="square" lIns="91440" tIns="45720" rIns="91440" bIns="45720" anchor="ctr" anchorCtr="0" upright="1">
              <a:noAutofit/>
            </a:bodyPr>
            <a:lstStyle/>
            <a:p>
              <a:pPr marL="0" marR="0" algn="ctr">
                <a:lnSpc>
                  <a:spcPct val="115000"/>
                </a:lnSpc>
                <a:spcBef>
                  <a:spcPts val="0"/>
                </a:spcBef>
                <a:spcAft>
                  <a:spcPts val="1000"/>
                </a:spcAft>
              </a:pPr>
              <a:r>
                <a:rPr lang="en-GB" sz="1000" b="1">
                  <a:effectLst/>
                  <a:latin typeface="Times New Roman"/>
                  <a:ea typeface="Calibri"/>
                  <a:cs typeface="Tunga"/>
                </a:rPr>
                <a:t>RFID Reader</a:t>
              </a:r>
              <a:endParaRPr lang="en-US" sz="1200">
                <a:effectLst/>
                <a:latin typeface="Times New Roman"/>
                <a:ea typeface="Times New Roman"/>
              </a:endParaRPr>
            </a:p>
          </p:txBody>
        </p:sp>
        <p:cxnSp>
          <p:nvCxnSpPr>
            <p:cNvPr id="18" name="Straight Arrow Connector 17"/>
            <p:cNvCxnSpPr>
              <a:cxnSpLocks noChangeShapeType="1"/>
            </p:cNvCxnSpPr>
            <p:nvPr/>
          </p:nvCxnSpPr>
          <p:spPr bwMode="auto">
            <a:xfrm>
              <a:off x="1866900" y="1728380"/>
              <a:ext cx="466090" cy="0"/>
            </a:xfrm>
            <a:prstGeom prst="straightConnector1">
              <a:avLst/>
            </a:prstGeom>
            <a:ln>
              <a:headEnd/>
              <a:tailEnd type="arrow" w="med" len="med"/>
            </a:ln>
          </p:spPr>
          <p:style>
            <a:lnRef idx="2">
              <a:schemeClr val="dk1"/>
            </a:lnRef>
            <a:fillRef idx="0">
              <a:schemeClr val="dk1"/>
            </a:fillRef>
            <a:effectRef idx="1">
              <a:schemeClr val="dk1"/>
            </a:effectRef>
            <a:fontRef idx="minor">
              <a:schemeClr val="tx1"/>
            </a:fontRef>
          </p:style>
        </p:cxn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5188" y="286711"/>
              <a:ext cx="751500" cy="751500"/>
            </a:xfrm>
            <a:prstGeom prst="rect">
              <a:avLst/>
            </a:prstGeom>
          </p:spPr>
        </p:pic>
        <p:cxnSp>
          <p:nvCxnSpPr>
            <p:cNvPr id="20" name="Straight Connector 19"/>
            <p:cNvCxnSpPr/>
            <p:nvPr/>
          </p:nvCxnSpPr>
          <p:spPr>
            <a:xfrm flipH="1">
              <a:off x="1227265" y="1038211"/>
              <a:ext cx="1" cy="276239"/>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Arrow Connector 20"/>
            <p:cNvCxnSpPr>
              <a:cxnSpLocks noChangeShapeType="1"/>
            </p:cNvCxnSpPr>
            <p:nvPr/>
          </p:nvCxnSpPr>
          <p:spPr bwMode="auto">
            <a:xfrm>
              <a:off x="1217741" y="1323975"/>
              <a:ext cx="1106944" cy="0"/>
            </a:xfrm>
            <a:prstGeom prst="straightConnector1">
              <a:avLst/>
            </a:prstGeom>
            <a:ln>
              <a:headEnd/>
              <a:tailEnd type="arrow" w="med" len="med"/>
            </a:ln>
          </p:spPr>
          <p:style>
            <a:lnRef idx="2">
              <a:schemeClr val="dk1"/>
            </a:lnRef>
            <a:fillRef idx="0">
              <a:schemeClr val="dk1"/>
            </a:fillRef>
            <a:effectRef idx="1">
              <a:schemeClr val="dk1"/>
            </a:effectRef>
            <a:fontRef idx="minor">
              <a:schemeClr val="tx1"/>
            </a:fontRef>
          </p:style>
        </p:cxnSp>
        <p:sp>
          <p:nvSpPr>
            <p:cNvPr id="22" name="Rectangle 21"/>
            <p:cNvSpPr>
              <a:spLocks noChangeArrowheads="1"/>
            </p:cNvSpPr>
            <p:nvPr/>
          </p:nvSpPr>
          <p:spPr bwMode="auto">
            <a:xfrm>
              <a:off x="675935" y="3416663"/>
              <a:ext cx="1195705" cy="447675"/>
            </a:xfrm>
            <a:prstGeom prst="rect">
              <a:avLst/>
            </a:prstGeom>
            <a:ln>
              <a:headEnd/>
              <a:tailEnd/>
            </a:ln>
          </p:spPr>
          <p:style>
            <a:lnRef idx="1">
              <a:schemeClr val="dk1"/>
            </a:lnRef>
            <a:fillRef idx="2">
              <a:schemeClr val="dk1"/>
            </a:fillRef>
            <a:effectRef idx="1">
              <a:schemeClr val="dk1"/>
            </a:effectRef>
            <a:fontRef idx="minor">
              <a:schemeClr val="dk1"/>
            </a:fontRef>
          </p:style>
          <p:txBody>
            <a:bodyPr rot="0" vert="horz" wrap="square" lIns="91440" tIns="45720" rIns="91440" bIns="45720" anchor="ctr" anchorCtr="0" upright="1">
              <a:noAutofit/>
            </a:bodyPr>
            <a:lstStyle/>
            <a:p>
              <a:pPr marL="0" marR="0" algn="ctr">
                <a:lnSpc>
                  <a:spcPct val="115000"/>
                </a:lnSpc>
                <a:spcBef>
                  <a:spcPts val="0"/>
                </a:spcBef>
                <a:spcAft>
                  <a:spcPts val="1000"/>
                </a:spcAft>
              </a:pPr>
              <a:r>
                <a:rPr lang="en-GB" sz="1000" b="1">
                  <a:effectLst/>
                  <a:latin typeface="Times New Roman"/>
                  <a:ea typeface="Calibri"/>
                  <a:cs typeface="Tunga"/>
                </a:rPr>
                <a:t>Alcohol sensor</a:t>
              </a:r>
              <a:endParaRPr lang="en-US" sz="1200">
                <a:effectLst/>
                <a:latin typeface="Times New Roman"/>
                <a:ea typeface="Times New Roman"/>
              </a:endParaRPr>
            </a:p>
          </p:txBody>
        </p:sp>
        <p:cxnSp>
          <p:nvCxnSpPr>
            <p:cNvPr id="23" name="Straight Arrow Connector 22"/>
            <p:cNvCxnSpPr>
              <a:cxnSpLocks noChangeShapeType="1"/>
            </p:cNvCxnSpPr>
            <p:nvPr/>
          </p:nvCxnSpPr>
          <p:spPr bwMode="auto">
            <a:xfrm>
              <a:off x="1872910" y="3626213"/>
              <a:ext cx="466090" cy="0"/>
            </a:xfrm>
            <a:prstGeom prst="straightConnector1">
              <a:avLst/>
            </a:prstGeom>
            <a:ln>
              <a:headEnd/>
              <a:tailEnd type="arrow" w="med" len="med"/>
            </a:ln>
          </p:spPr>
          <p:style>
            <a:lnRef idx="2">
              <a:schemeClr val="dk1"/>
            </a:lnRef>
            <a:fillRef idx="0">
              <a:schemeClr val="dk1"/>
            </a:fillRef>
            <a:effectRef idx="1">
              <a:schemeClr val="dk1"/>
            </a:effectRef>
            <a:fontRef idx="minor">
              <a:schemeClr val="tx1"/>
            </a:fontRef>
          </p:style>
        </p:cxnSp>
        <p:grpSp>
          <p:nvGrpSpPr>
            <p:cNvPr id="24" name="Group 23"/>
            <p:cNvGrpSpPr/>
            <p:nvPr/>
          </p:nvGrpSpPr>
          <p:grpSpPr>
            <a:xfrm>
              <a:off x="3467100" y="3264865"/>
              <a:ext cx="1352551" cy="607803"/>
              <a:chOff x="0" y="1"/>
              <a:chExt cx="1352551" cy="607803"/>
            </a:xfrm>
          </p:grpSpPr>
          <p:cxnSp>
            <p:nvCxnSpPr>
              <p:cNvPr id="26" name="Straight Arrow Connector 25"/>
              <p:cNvCxnSpPr>
                <a:cxnSpLocks noChangeShapeType="1"/>
              </p:cNvCxnSpPr>
              <p:nvPr/>
            </p:nvCxnSpPr>
            <p:spPr bwMode="auto">
              <a:xfrm>
                <a:off x="0" y="239058"/>
                <a:ext cx="510832" cy="0"/>
              </a:xfrm>
              <a:prstGeom prst="straightConnector1">
                <a:avLst/>
              </a:prstGeom>
              <a:ln>
                <a:headEnd/>
                <a:tailEnd type="arrow" w="med" len="med"/>
              </a:ln>
            </p:spPr>
            <p:style>
              <a:lnRef idx="2">
                <a:schemeClr val="dk1"/>
              </a:lnRef>
              <a:fillRef idx="0">
                <a:schemeClr val="dk1"/>
              </a:fillRef>
              <a:effectRef idx="1">
                <a:schemeClr val="dk1"/>
              </a:effectRef>
              <a:fontRef idx="minor">
                <a:schemeClr val="tx1"/>
              </a:fontRef>
            </p:style>
          </p:cxnSp>
          <p:sp>
            <p:nvSpPr>
              <p:cNvPr id="27" name="Rectangle 26"/>
              <p:cNvSpPr>
                <a:spLocks noChangeArrowheads="1"/>
              </p:cNvSpPr>
              <p:nvPr/>
            </p:nvSpPr>
            <p:spPr bwMode="auto">
              <a:xfrm>
                <a:off x="525781" y="1"/>
                <a:ext cx="826770" cy="361392"/>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rot="0" vert="horz" wrap="square" lIns="91440" tIns="45720" rIns="91440" bIns="45720" anchor="ctr" anchorCtr="0" upright="1">
                <a:noAutofit/>
              </a:bodyPr>
              <a:lstStyle/>
              <a:p>
                <a:pPr marL="0" marR="0" algn="ctr">
                  <a:lnSpc>
                    <a:spcPct val="115000"/>
                  </a:lnSpc>
                  <a:spcBef>
                    <a:spcPts val="0"/>
                  </a:spcBef>
                  <a:spcAft>
                    <a:spcPts val="1000"/>
                  </a:spcAft>
                </a:pPr>
                <a:r>
                  <a:rPr lang="en-GB" sz="1100">
                    <a:effectLst/>
                    <a:latin typeface="Times New Roman"/>
                    <a:ea typeface="Calibri"/>
                  </a:rPr>
                  <a:t>Relay</a:t>
                </a:r>
                <a:endParaRPr lang="en-US" sz="1200">
                  <a:effectLst/>
                  <a:latin typeface="Times New Roman"/>
                  <a:ea typeface="Times New Roman"/>
                </a:endParaRPr>
              </a:p>
            </p:txBody>
          </p:sp>
          <p:cxnSp>
            <p:nvCxnSpPr>
              <p:cNvPr id="28" name="Straight Arrow Connector 27"/>
              <p:cNvCxnSpPr>
                <a:cxnSpLocks noChangeShapeType="1"/>
              </p:cNvCxnSpPr>
              <p:nvPr/>
            </p:nvCxnSpPr>
            <p:spPr bwMode="auto">
              <a:xfrm>
                <a:off x="934403" y="361393"/>
                <a:ext cx="0" cy="246411"/>
              </a:xfrm>
              <a:prstGeom prst="straightConnector1">
                <a:avLst/>
              </a:prstGeom>
              <a:ln>
                <a:headEnd/>
                <a:tailEnd type="arrow" w="med" len="med"/>
              </a:ln>
            </p:spPr>
            <p:style>
              <a:lnRef idx="2">
                <a:schemeClr val="dk1"/>
              </a:lnRef>
              <a:fillRef idx="0">
                <a:schemeClr val="dk1"/>
              </a:fillRef>
              <a:effectRef idx="1">
                <a:schemeClr val="dk1"/>
              </a:effectRef>
              <a:fontRef idx="minor">
                <a:schemeClr val="tx1"/>
              </a:fontRef>
            </p:style>
          </p:cxnSp>
        </p:grpSp>
        <p:sp>
          <p:nvSpPr>
            <p:cNvPr id="25" name="Oval 24"/>
            <p:cNvSpPr/>
            <p:nvPr/>
          </p:nvSpPr>
          <p:spPr>
            <a:xfrm>
              <a:off x="3992881" y="3886018"/>
              <a:ext cx="781050" cy="5810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GB" sz="800">
                  <a:effectLst/>
                  <a:ea typeface="Calibri"/>
                  <a:cs typeface="Times New Roman"/>
                </a:rPr>
                <a:t>DC motor</a:t>
              </a:r>
              <a:endParaRPr lang="en-US" sz="1100">
                <a:effectLst/>
                <a:ea typeface="Calibri"/>
                <a:cs typeface="Times New Roman"/>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457200"/>
            <a:ext cx="8305800" cy="5867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228600" y="228600"/>
            <a:ext cx="8229600" cy="7155805"/>
          </a:xfrm>
          <a:prstGeom prst="rect">
            <a:avLst/>
          </a:prstGeom>
        </p:spPr>
        <p:txBody>
          <a:bodyPr wrap="square">
            <a:spAutoFit/>
          </a:bodyPr>
          <a:lstStyle/>
          <a:p>
            <a:pPr algn="ctr"/>
            <a:r>
              <a:rPr lang="en-US" sz="2800" b="1" dirty="0">
                <a:latin typeface="Times New Roman" pitchFamily="18" charset="0"/>
                <a:cs typeface="Times New Roman" pitchFamily="18" charset="0"/>
              </a:rPr>
              <a:t>METHODOLOGY</a:t>
            </a:r>
          </a:p>
          <a:p>
            <a:r>
              <a:rPr lang="en-US" sz="2800" b="1" dirty="0">
                <a:latin typeface="Times New Roman" pitchFamily="18" charset="0"/>
                <a:cs typeface="Times New Roman" pitchFamily="18" charset="0"/>
              </a:rPr>
              <a:t> </a:t>
            </a:r>
            <a:endParaRPr lang="en-US" sz="2800" dirty="0">
              <a:latin typeface="Times New Roman" pitchFamily="18" charset="0"/>
              <a:cs typeface="Times New Roman" pitchFamily="18" charset="0"/>
            </a:endParaRPr>
          </a:p>
          <a:p>
            <a:pPr algn="just">
              <a:lnSpc>
                <a:spcPct val="150000"/>
              </a:lnSpc>
              <a:spcAft>
                <a:spcPts val="1000"/>
              </a:spcAft>
              <a:buNone/>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The project employs a layered, modular approach to achieve its objectives. The methodology involves distinct hardware and software components working in concert.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buNone/>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System Architecture Overview:</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buNone/>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The system is architecturally divided into two main processing units: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50000"/>
              </a:lnSpc>
              <a:spcAft>
                <a:spcPts val="1000"/>
              </a:spcAft>
              <a:buFont typeface="+mj-lt"/>
              <a:buAutoNum type="arabicPeriod"/>
              <a:tabLst>
                <a:tab pos="9144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Laptop (Face Recognition Unit):</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Handles the computationally intensive face recognition task using its built-in webcam and Python with OpenCV.</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50000"/>
              </a:lnSpc>
              <a:spcAft>
                <a:spcPts val="1000"/>
              </a:spcAft>
              <a:buFont typeface="+mj-lt"/>
              <a:buAutoNum type="arabicPeriod"/>
              <a:tabLst>
                <a:tab pos="9144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ESP32 Microcontroller (Main Control &amp; IoT Unit):</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Manages all subsequent authentication layers (fingerprint, RFID), sensor inputs (alcohol, tilt), user interface (LCD), engine control (relay), and IoT communication (Blynk).</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50000"/>
              </a:lnSpc>
              <a:spcAft>
                <a:spcPts val="1000"/>
              </a:spcAf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Communication between the laptop and ESP32 occurs via serial (USB) connection.</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lvl="0"/>
            <a:endParaRPr lang="en-US" sz="2000" dirty="0">
              <a:latin typeface="Times New Roman" pitchFamily="18" charset="0"/>
              <a:cs typeface="Times New Roman" pitchFamily="18" charset="0"/>
            </a:endParaRPr>
          </a:p>
          <a:p>
            <a:br>
              <a:rPr lang="en-US" dirty="0"/>
            </a:br>
            <a:endParaRPr lang="en-US" dirty="0"/>
          </a:p>
        </p:txBody>
      </p:sp>
    </p:spTree>
    <p:extLst>
      <p:ext uri="{BB962C8B-B14F-4D97-AF65-F5344CB8AC3E}">
        <p14:creationId xmlns:p14="http://schemas.microsoft.com/office/powerpoint/2010/main" val="3760556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190E29-4A43-4528-6D23-6F234DA655AE}"/>
              </a:ext>
            </a:extLst>
          </p:cNvPr>
          <p:cNvSpPr txBox="1"/>
          <p:nvPr/>
        </p:nvSpPr>
        <p:spPr>
          <a:xfrm>
            <a:off x="3117174" y="58143"/>
            <a:ext cx="457200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FLOWCHART</a:t>
            </a:r>
          </a:p>
        </p:txBody>
      </p:sp>
      <p:grpSp>
        <p:nvGrpSpPr>
          <p:cNvPr id="2" name="Canvas 47">
            <a:extLst>
              <a:ext uri="{FF2B5EF4-FFF2-40B4-BE49-F238E27FC236}">
                <a16:creationId xmlns:a16="http://schemas.microsoft.com/office/drawing/2014/main" id="{AB37444A-49ED-5966-99FB-02A9C7EE9E0C}"/>
              </a:ext>
            </a:extLst>
          </p:cNvPr>
          <p:cNvGrpSpPr/>
          <p:nvPr/>
        </p:nvGrpSpPr>
        <p:grpSpPr>
          <a:xfrm>
            <a:off x="533400" y="581363"/>
            <a:ext cx="10134600" cy="7260811"/>
            <a:chOff x="475129" y="468727"/>
            <a:chExt cx="6916271" cy="9399173"/>
          </a:xfrm>
        </p:grpSpPr>
        <p:sp>
          <p:nvSpPr>
            <p:cNvPr id="3" name="Rectangle 2">
              <a:extLst>
                <a:ext uri="{FF2B5EF4-FFF2-40B4-BE49-F238E27FC236}">
                  <a16:creationId xmlns:a16="http://schemas.microsoft.com/office/drawing/2014/main" id="{102A1ED8-A6D2-BC7D-3C19-747C4E39141B}"/>
                </a:ext>
              </a:extLst>
            </p:cNvPr>
            <p:cNvSpPr/>
            <p:nvPr/>
          </p:nvSpPr>
          <p:spPr>
            <a:xfrm>
              <a:off x="1000125" y="1114425"/>
              <a:ext cx="6391275" cy="8753475"/>
            </a:xfrm>
            <a:prstGeom prst="rect">
              <a:avLst/>
            </a:prstGeom>
          </p:spPr>
        </p:sp>
        <p:sp>
          <p:nvSpPr>
            <p:cNvPr id="45" name="Oval 44">
              <a:extLst>
                <a:ext uri="{FF2B5EF4-FFF2-40B4-BE49-F238E27FC236}">
                  <a16:creationId xmlns:a16="http://schemas.microsoft.com/office/drawing/2014/main" id="{9602865A-DD2D-A970-58F4-46323B23EA9D}"/>
                </a:ext>
              </a:extLst>
            </p:cNvPr>
            <p:cNvSpPr/>
            <p:nvPr/>
          </p:nvSpPr>
          <p:spPr>
            <a:xfrm>
              <a:off x="2474259" y="468727"/>
              <a:ext cx="833717" cy="430306"/>
            </a:xfrm>
            <a:prstGeom prst="ellipse">
              <a:avLst/>
            </a:prstGeom>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IN" sz="1100">
                  <a:effectLst/>
                  <a:ea typeface="Calibri" panose="020F0502020204030204" pitchFamily="34" charset="0"/>
                  <a:cs typeface="Times New Roman" panose="02020603050405020304" pitchFamily="18" charset="0"/>
                </a:rPr>
                <a:t>Start</a:t>
              </a:r>
            </a:p>
          </p:txBody>
        </p:sp>
        <p:cxnSp>
          <p:nvCxnSpPr>
            <p:cNvPr id="46" name="Straight Arrow Connector 45">
              <a:extLst>
                <a:ext uri="{FF2B5EF4-FFF2-40B4-BE49-F238E27FC236}">
                  <a16:creationId xmlns:a16="http://schemas.microsoft.com/office/drawing/2014/main" id="{C0E5EA6F-B15A-BB4D-08B7-895E4268A8EF}"/>
                </a:ext>
              </a:extLst>
            </p:cNvPr>
            <p:cNvCxnSpPr>
              <a:stCxn id="45" idx="4"/>
            </p:cNvCxnSpPr>
            <p:nvPr/>
          </p:nvCxnSpPr>
          <p:spPr>
            <a:xfrm>
              <a:off x="2891118" y="899033"/>
              <a:ext cx="4482" cy="3944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DBC5937E-6B81-9C05-8E22-1B3810C239C5}"/>
                </a:ext>
              </a:extLst>
            </p:cNvPr>
            <p:cNvSpPr/>
            <p:nvPr/>
          </p:nvSpPr>
          <p:spPr>
            <a:xfrm>
              <a:off x="1927411" y="1293478"/>
              <a:ext cx="2026024" cy="672353"/>
            </a:xfrm>
            <a:prstGeom prst="rect">
              <a:avLst/>
            </a:prstGeom>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000">
                  <a:effectLst/>
                  <a:ea typeface="Calibri" panose="020F0502020204030204" pitchFamily="34" charset="0"/>
                  <a:cs typeface="Times New Roman" panose="02020603050405020304" pitchFamily="18" charset="0"/>
                </a:rPr>
                <a:t>Initialize camera, RFID, Finger print, alcohol, tilt sensor and display</a:t>
              </a:r>
              <a:endParaRPr lang="en-IN" sz="1100">
                <a:effectLst/>
                <a:ea typeface="Calibri" panose="020F0502020204030204" pitchFamily="34" charset="0"/>
                <a:cs typeface="Times New Roman" panose="02020603050405020304" pitchFamily="18" charset="0"/>
              </a:endParaRPr>
            </a:p>
          </p:txBody>
        </p:sp>
        <p:sp>
          <p:nvSpPr>
            <p:cNvPr id="48" name="Rectangle 47">
              <a:extLst>
                <a:ext uri="{FF2B5EF4-FFF2-40B4-BE49-F238E27FC236}">
                  <a16:creationId xmlns:a16="http://schemas.microsoft.com/office/drawing/2014/main" id="{BDE7D38E-286A-95D7-E97E-85C006FB05F1}"/>
                </a:ext>
              </a:extLst>
            </p:cNvPr>
            <p:cNvSpPr/>
            <p:nvPr/>
          </p:nvSpPr>
          <p:spPr>
            <a:xfrm>
              <a:off x="1927785" y="2271338"/>
              <a:ext cx="2025650" cy="537845"/>
            </a:xfrm>
            <a:prstGeom prst="rect">
              <a:avLst/>
            </a:prstGeom>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IN" sz="1000">
                  <a:effectLst/>
                  <a:ea typeface="Calibri" panose="020F0502020204030204" pitchFamily="34" charset="0"/>
                  <a:cs typeface="Times New Roman" panose="02020603050405020304" pitchFamily="18" charset="0"/>
                </a:rPr>
                <a:t>Establish serial communication</a:t>
              </a:r>
              <a:endParaRPr lang="en-IN" sz="1100">
                <a:effectLst/>
                <a:ea typeface="Calibri" panose="020F0502020204030204" pitchFamily="34" charset="0"/>
                <a:cs typeface="Times New Roman" panose="02020603050405020304" pitchFamily="18" charset="0"/>
              </a:endParaRPr>
            </a:p>
          </p:txBody>
        </p:sp>
        <p:cxnSp>
          <p:nvCxnSpPr>
            <p:cNvPr id="49" name="Straight Arrow Connector 48">
              <a:extLst>
                <a:ext uri="{FF2B5EF4-FFF2-40B4-BE49-F238E27FC236}">
                  <a16:creationId xmlns:a16="http://schemas.microsoft.com/office/drawing/2014/main" id="{C98C612C-AAF7-B270-B15E-69E02CFF2594}"/>
                </a:ext>
              </a:extLst>
            </p:cNvPr>
            <p:cNvCxnSpPr/>
            <p:nvPr/>
          </p:nvCxnSpPr>
          <p:spPr>
            <a:xfrm>
              <a:off x="2933021" y="1956306"/>
              <a:ext cx="0" cy="305507"/>
            </a:xfrm>
            <a:prstGeom prst="straightConnector1">
              <a:avLst/>
            </a:prstGeom>
            <a:noFill/>
            <a:ln w="9525" cap="flat" cmpd="sng" algn="ctr">
              <a:solidFill>
                <a:srgbClr val="4F81BD">
                  <a:shade val="95000"/>
                  <a:satMod val="105000"/>
                </a:srgbClr>
              </a:solidFill>
              <a:prstDash val="solid"/>
              <a:tailEnd type="arrow"/>
            </a:ln>
            <a:effectLst/>
          </p:spPr>
          <p:style>
            <a:lnRef idx="1">
              <a:schemeClr val="accent1"/>
            </a:lnRef>
            <a:fillRef idx="0">
              <a:schemeClr val="accent1"/>
            </a:fillRef>
            <a:effectRef idx="0">
              <a:schemeClr val="accent1"/>
            </a:effectRef>
            <a:fontRef idx="minor">
              <a:schemeClr val="tx1"/>
            </a:fontRef>
          </p:style>
        </p:cxnSp>
        <p:sp>
          <p:nvSpPr>
            <p:cNvPr id="50" name="Flowchart: Decision 49">
              <a:extLst>
                <a:ext uri="{FF2B5EF4-FFF2-40B4-BE49-F238E27FC236}">
                  <a16:creationId xmlns:a16="http://schemas.microsoft.com/office/drawing/2014/main" id="{01EFE0EC-B977-3E46-15A4-C9F835DB8232}"/>
                </a:ext>
              </a:extLst>
            </p:cNvPr>
            <p:cNvSpPr/>
            <p:nvPr/>
          </p:nvSpPr>
          <p:spPr>
            <a:xfrm>
              <a:off x="1219200" y="3974004"/>
              <a:ext cx="1671917" cy="773128"/>
            </a:xfrm>
            <a:prstGeom prst="flowChartDecision">
              <a:avLst/>
            </a:prstGeom>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IN" sz="800">
                  <a:effectLst/>
                  <a:ea typeface="Calibri" panose="020F0502020204030204" pitchFamily="34" charset="0"/>
                  <a:cs typeface="Times New Roman" panose="02020603050405020304" pitchFamily="18" charset="0"/>
                </a:rPr>
                <a:t>Does face match</a:t>
              </a:r>
              <a:r>
                <a:rPr lang="en-IN" sz="900">
                  <a:effectLst/>
                  <a:ea typeface="Calibri" panose="020F0502020204030204" pitchFamily="34" charset="0"/>
                  <a:cs typeface="Times New Roman" panose="02020603050405020304" pitchFamily="18" charset="0"/>
                </a:rPr>
                <a:t>?</a:t>
              </a:r>
              <a:endParaRPr lang="en-IN" sz="1100">
                <a:effectLst/>
                <a:ea typeface="Calibri" panose="020F0502020204030204" pitchFamily="34" charset="0"/>
                <a:cs typeface="Times New Roman" panose="02020603050405020304" pitchFamily="18" charset="0"/>
              </a:endParaRPr>
            </a:p>
          </p:txBody>
        </p:sp>
        <p:cxnSp>
          <p:nvCxnSpPr>
            <p:cNvPr id="51" name="Straight Arrow Connector 50">
              <a:extLst>
                <a:ext uri="{FF2B5EF4-FFF2-40B4-BE49-F238E27FC236}">
                  <a16:creationId xmlns:a16="http://schemas.microsoft.com/office/drawing/2014/main" id="{E70338BE-D033-B424-5D4C-BFA6B7A66EC7}"/>
                </a:ext>
              </a:extLst>
            </p:cNvPr>
            <p:cNvCxnSpPr/>
            <p:nvPr/>
          </p:nvCxnSpPr>
          <p:spPr>
            <a:xfrm>
              <a:off x="2909716" y="2809183"/>
              <a:ext cx="4445" cy="313097"/>
            </a:xfrm>
            <a:prstGeom prst="straightConnector1">
              <a:avLst/>
            </a:prstGeom>
            <a:noFill/>
            <a:ln w="9525" cap="flat" cmpd="sng" algn="ctr">
              <a:solidFill>
                <a:srgbClr val="4F81BD">
                  <a:shade val="95000"/>
                  <a:satMod val="105000"/>
                </a:srgbClr>
              </a:solidFill>
              <a:prstDash val="solid"/>
              <a:tailEnd type="arrow"/>
            </a:ln>
            <a:effectLst/>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ACEE20F9-FDB9-C79C-E826-D781B92AAAF5}"/>
                </a:ext>
              </a:extLst>
            </p:cNvPr>
            <p:cNvSpPr/>
            <p:nvPr/>
          </p:nvSpPr>
          <p:spPr>
            <a:xfrm>
              <a:off x="1927785" y="3122949"/>
              <a:ext cx="2025650" cy="537845"/>
            </a:xfrm>
            <a:prstGeom prst="rect">
              <a:avLst/>
            </a:prstGeom>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900">
                  <a:effectLst/>
                  <a:latin typeface="Times New Roman" panose="02020603050405020304" pitchFamily="18" charset="0"/>
                  <a:ea typeface="Calibri" panose="020F0502020204030204" pitchFamily="34" charset="0"/>
                  <a:cs typeface="Tunga" panose="020B0502040204020203" pitchFamily="34" charset="0"/>
                </a:rPr>
                <a:t>Monitor and control following tasks repeatedly</a:t>
              </a:r>
              <a:endParaRPr lang="en-IN" sz="1200">
                <a:effectLst/>
                <a:latin typeface="Times New Roman" panose="02020603050405020304" pitchFamily="18" charset="0"/>
                <a:ea typeface="Times New Roman" panose="02020603050405020304" pitchFamily="18" charset="0"/>
              </a:endParaRPr>
            </a:p>
          </p:txBody>
        </p:sp>
        <p:cxnSp>
          <p:nvCxnSpPr>
            <p:cNvPr id="53" name="Straight Arrow Connector 52">
              <a:extLst>
                <a:ext uri="{FF2B5EF4-FFF2-40B4-BE49-F238E27FC236}">
                  <a16:creationId xmlns:a16="http://schemas.microsoft.com/office/drawing/2014/main" id="{63129FBD-DA78-585A-5FE6-D34D2CF71229}"/>
                </a:ext>
              </a:extLst>
            </p:cNvPr>
            <p:cNvCxnSpPr/>
            <p:nvPr/>
          </p:nvCxnSpPr>
          <p:spPr>
            <a:xfrm>
              <a:off x="2018957" y="3660794"/>
              <a:ext cx="4445" cy="313055"/>
            </a:xfrm>
            <a:prstGeom prst="straightConnector1">
              <a:avLst/>
            </a:prstGeom>
            <a:noFill/>
            <a:ln w="9525" cap="flat" cmpd="sng" algn="ctr">
              <a:solidFill>
                <a:srgbClr val="4F81BD">
                  <a:shade val="95000"/>
                  <a:satMod val="105000"/>
                </a:srgbClr>
              </a:solidFill>
              <a:prstDash val="solid"/>
              <a:tailEnd type="arrow"/>
            </a:ln>
            <a:effectLst/>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38B3221-1580-3B23-4909-30315B69451B}"/>
                </a:ext>
              </a:extLst>
            </p:cNvPr>
            <p:cNvCxnSpPr/>
            <p:nvPr/>
          </p:nvCxnSpPr>
          <p:spPr>
            <a:xfrm>
              <a:off x="2065803" y="4747132"/>
              <a:ext cx="1" cy="221300"/>
            </a:xfrm>
            <a:prstGeom prst="line">
              <a:avLst/>
            </a:prstGeom>
          </p:spPr>
          <p:style>
            <a:lnRef idx="1">
              <a:schemeClr val="accent1"/>
            </a:lnRef>
            <a:fillRef idx="0">
              <a:schemeClr val="accent1"/>
            </a:fillRef>
            <a:effectRef idx="0">
              <a:schemeClr val="accent1"/>
            </a:effectRef>
            <a:fontRef idx="minor">
              <a:schemeClr val="tx1"/>
            </a:fontRef>
          </p:style>
        </p:cxnSp>
        <p:sp>
          <p:nvSpPr>
            <p:cNvPr id="55" name="Text Box 19">
              <a:extLst>
                <a:ext uri="{FF2B5EF4-FFF2-40B4-BE49-F238E27FC236}">
                  <a16:creationId xmlns:a16="http://schemas.microsoft.com/office/drawing/2014/main" id="{5F7D2820-7B91-E988-3FB5-9A97284F71AF}"/>
                </a:ext>
              </a:extLst>
            </p:cNvPr>
            <p:cNvSpPr txBox="1"/>
            <p:nvPr/>
          </p:nvSpPr>
          <p:spPr>
            <a:xfrm>
              <a:off x="1570721" y="4779389"/>
              <a:ext cx="356690" cy="259977"/>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IN" sz="800">
                  <a:effectLst/>
                  <a:ea typeface="Calibri" panose="020F0502020204030204" pitchFamily="34" charset="0"/>
                  <a:cs typeface="Times New Roman" panose="02020603050405020304" pitchFamily="18" charset="0"/>
                </a:rPr>
                <a:t>No</a:t>
              </a:r>
              <a:endParaRPr lang="en-IN" sz="1100">
                <a:effectLst/>
                <a:ea typeface="Calibri" panose="020F0502020204030204" pitchFamily="34" charset="0"/>
                <a:cs typeface="Times New Roman" panose="02020603050405020304" pitchFamily="18" charset="0"/>
              </a:endParaRPr>
            </a:p>
          </p:txBody>
        </p:sp>
        <p:sp>
          <p:nvSpPr>
            <p:cNvPr id="56" name="Rectangle 55">
              <a:extLst>
                <a:ext uri="{FF2B5EF4-FFF2-40B4-BE49-F238E27FC236}">
                  <a16:creationId xmlns:a16="http://schemas.microsoft.com/office/drawing/2014/main" id="{BA6F1495-66ED-ED53-7B01-511E346B88D7}"/>
                </a:ext>
              </a:extLst>
            </p:cNvPr>
            <p:cNvSpPr/>
            <p:nvPr/>
          </p:nvSpPr>
          <p:spPr>
            <a:xfrm>
              <a:off x="1717302" y="5254903"/>
              <a:ext cx="1039906" cy="233981"/>
            </a:xfrm>
            <a:prstGeom prst="rect">
              <a:avLst/>
            </a:prstGeom>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700">
                  <a:effectLst/>
                  <a:latin typeface="Times New Roman" panose="02020603050405020304" pitchFamily="18" charset="0"/>
                  <a:ea typeface="Times New Roman" panose="02020603050405020304" pitchFamily="18" charset="0"/>
                </a:rPr>
                <a:t>Display on LCD</a:t>
              </a:r>
              <a:endParaRPr lang="en-IN" sz="1200">
                <a:effectLst/>
                <a:latin typeface="Times New Roman" panose="02020603050405020304" pitchFamily="18" charset="0"/>
                <a:ea typeface="Times New Roman" panose="02020603050405020304" pitchFamily="18" charset="0"/>
              </a:endParaRPr>
            </a:p>
          </p:txBody>
        </p:sp>
        <p:cxnSp>
          <p:nvCxnSpPr>
            <p:cNvPr id="57" name="Straight Arrow Connector 56">
              <a:extLst>
                <a:ext uri="{FF2B5EF4-FFF2-40B4-BE49-F238E27FC236}">
                  <a16:creationId xmlns:a16="http://schemas.microsoft.com/office/drawing/2014/main" id="{7A0B01C3-B4CC-E169-0754-0A2B7309548F}"/>
                </a:ext>
              </a:extLst>
            </p:cNvPr>
            <p:cNvCxnSpPr/>
            <p:nvPr/>
          </p:nvCxnSpPr>
          <p:spPr>
            <a:xfrm>
              <a:off x="6002769" y="4363010"/>
              <a:ext cx="0" cy="799540"/>
            </a:xfrm>
            <a:prstGeom prst="straightConnector1">
              <a:avLst/>
            </a:prstGeom>
            <a:noFill/>
            <a:ln w="9525" cap="flat" cmpd="sng" algn="ctr">
              <a:solidFill>
                <a:srgbClr val="4F81BD">
                  <a:shade val="95000"/>
                  <a:satMod val="105000"/>
                </a:srgbClr>
              </a:solidFill>
              <a:prstDash val="solid"/>
              <a:tailEnd type="arrow"/>
            </a:ln>
            <a:effectLst/>
          </p:spPr>
          <p:style>
            <a:lnRef idx="1">
              <a:schemeClr val="accent1"/>
            </a:lnRef>
            <a:fillRef idx="0">
              <a:schemeClr val="accent1"/>
            </a:fillRef>
            <a:effectRef idx="0">
              <a:schemeClr val="accent1"/>
            </a:effectRef>
            <a:fontRef idx="minor">
              <a:schemeClr val="tx1"/>
            </a:fontRef>
          </p:style>
        </p:cxnSp>
        <p:sp>
          <p:nvSpPr>
            <p:cNvPr id="58" name="Text Box 25">
              <a:extLst>
                <a:ext uri="{FF2B5EF4-FFF2-40B4-BE49-F238E27FC236}">
                  <a16:creationId xmlns:a16="http://schemas.microsoft.com/office/drawing/2014/main" id="{5F63208B-67E0-898C-A993-DB7DC8A42FFB}"/>
                </a:ext>
              </a:extLst>
            </p:cNvPr>
            <p:cNvSpPr txBox="1"/>
            <p:nvPr/>
          </p:nvSpPr>
          <p:spPr>
            <a:xfrm>
              <a:off x="2852792" y="4046167"/>
              <a:ext cx="447675" cy="259715"/>
            </a:xfrm>
            <a:prstGeom prst="rect">
              <a:avLst/>
            </a:prstGeom>
            <a:solidFill>
              <a:sysClr val="window" lastClr="FFFFFF"/>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IN" sz="1000">
                  <a:effectLst/>
                  <a:latin typeface="Times New Roman" panose="02020603050405020304" pitchFamily="18" charset="0"/>
                  <a:ea typeface="Times New Roman" panose="02020603050405020304" pitchFamily="18" charset="0"/>
                </a:rPr>
                <a:t>Yes</a:t>
              </a:r>
              <a:endParaRPr lang="en-IN" sz="1200">
                <a:effectLst/>
                <a:latin typeface="Times New Roman" panose="02020603050405020304" pitchFamily="18" charset="0"/>
                <a:ea typeface="Times New Roman" panose="02020603050405020304" pitchFamily="18" charset="0"/>
              </a:endParaRPr>
            </a:p>
          </p:txBody>
        </p:sp>
        <p:sp>
          <p:nvSpPr>
            <p:cNvPr id="59" name="Flowchart: Decision 58">
              <a:extLst>
                <a:ext uri="{FF2B5EF4-FFF2-40B4-BE49-F238E27FC236}">
                  <a16:creationId xmlns:a16="http://schemas.microsoft.com/office/drawing/2014/main" id="{300ED0B5-0A62-A02D-37A8-6D57896B275A}"/>
                </a:ext>
              </a:extLst>
            </p:cNvPr>
            <p:cNvSpPr/>
            <p:nvPr/>
          </p:nvSpPr>
          <p:spPr>
            <a:xfrm>
              <a:off x="4211022" y="5974419"/>
              <a:ext cx="2143666" cy="779225"/>
            </a:xfrm>
            <a:prstGeom prst="flowChartDecision">
              <a:avLst/>
            </a:prstGeom>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IN" sz="800">
                  <a:effectLst/>
                  <a:ea typeface="Calibri" panose="020F0502020204030204" pitchFamily="34" charset="0"/>
                  <a:cs typeface="Times New Roman" panose="02020603050405020304" pitchFamily="18" charset="0"/>
                </a:rPr>
                <a:t>Alcohol or accident detected?</a:t>
              </a:r>
              <a:endParaRPr lang="en-IN" sz="1100">
                <a:effectLst/>
                <a:ea typeface="Calibri" panose="020F0502020204030204" pitchFamily="34" charset="0"/>
                <a:cs typeface="Times New Roman" panose="02020603050405020304" pitchFamily="18" charset="0"/>
              </a:endParaRPr>
            </a:p>
          </p:txBody>
        </p:sp>
        <p:cxnSp>
          <p:nvCxnSpPr>
            <p:cNvPr id="60" name="Straight Arrow Connector 59">
              <a:extLst>
                <a:ext uri="{FF2B5EF4-FFF2-40B4-BE49-F238E27FC236}">
                  <a16:creationId xmlns:a16="http://schemas.microsoft.com/office/drawing/2014/main" id="{F2A24F46-998D-4EDB-63D5-83164F80277A}"/>
                </a:ext>
              </a:extLst>
            </p:cNvPr>
            <p:cNvCxnSpPr/>
            <p:nvPr/>
          </p:nvCxnSpPr>
          <p:spPr>
            <a:xfrm>
              <a:off x="2066951" y="4975860"/>
              <a:ext cx="0" cy="268157"/>
            </a:xfrm>
            <a:prstGeom prst="straightConnector1">
              <a:avLst/>
            </a:prstGeom>
            <a:noFill/>
            <a:ln w="9525" cap="flat" cmpd="sng" algn="ctr">
              <a:solidFill>
                <a:srgbClr val="4F81BD">
                  <a:shade val="95000"/>
                  <a:satMod val="105000"/>
                </a:srgbClr>
              </a:solidFill>
              <a:prstDash val="solid"/>
              <a:tailEnd type="arrow"/>
            </a:ln>
            <a:effectLst/>
          </p:spPr>
          <p:style>
            <a:lnRef idx="1">
              <a:schemeClr val="accent1"/>
            </a:lnRef>
            <a:fillRef idx="0">
              <a:schemeClr val="accent1"/>
            </a:fillRef>
            <a:effectRef idx="0">
              <a:schemeClr val="accent1"/>
            </a:effectRef>
            <a:fontRef idx="minor">
              <a:schemeClr val="tx1"/>
            </a:fontRef>
          </p:style>
        </p:cxnSp>
        <p:sp>
          <p:nvSpPr>
            <p:cNvPr id="61" name="Text Box 25">
              <a:extLst>
                <a:ext uri="{FF2B5EF4-FFF2-40B4-BE49-F238E27FC236}">
                  <a16:creationId xmlns:a16="http://schemas.microsoft.com/office/drawing/2014/main" id="{0EE73E92-753D-380F-1A78-EDA6022C405E}"/>
                </a:ext>
              </a:extLst>
            </p:cNvPr>
            <p:cNvSpPr txBox="1"/>
            <p:nvPr/>
          </p:nvSpPr>
          <p:spPr>
            <a:xfrm>
              <a:off x="3810947" y="6398961"/>
              <a:ext cx="393740" cy="259715"/>
            </a:xfrm>
            <a:prstGeom prst="rect">
              <a:avLst/>
            </a:prstGeom>
            <a:solidFill>
              <a:sysClr val="window" lastClr="FFFFFF"/>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buNone/>
              </a:pPr>
              <a:r>
                <a:rPr lang="en-IN" sz="1000">
                  <a:effectLst/>
                  <a:latin typeface="Times New Roman" panose="02020603050405020304" pitchFamily="18" charset="0"/>
                  <a:ea typeface="Times New Roman" panose="02020603050405020304" pitchFamily="18" charset="0"/>
                </a:rPr>
                <a:t>Yes</a:t>
              </a:r>
              <a:endParaRPr lang="en-IN" sz="1200">
                <a:effectLst/>
                <a:latin typeface="Times New Roman" panose="02020603050405020304" pitchFamily="18" charset="0"/>
                <a:ea typeface="Times New Roman" panose="02020603050405020304" pitchFamily="18" charset="0"/>
              </a:endParaRPr>
            </a:p>
            <a:p>
              <a:pPr>
                <a:lnSpc>
                  <a:spcPct val="115000"/>
                </a:lnSpc>
                <a:spcAft>
                  <a:spcPts val="1000"/>
                </a:spcAft>
              </a:pPr>
              <a:r>
                <a:rPr lang="en-IN" sz="700">
                  <a:effectLst/>
                  <a:latin typeface="Times New Roman" panose="02020603050405020304" pitchFamily="18" charset="0"/>
                  <a:ea typeface="Times New Roman" panose="02020603050405020304" pitchFamily="18" charset="0"/>
                </a:rPr>
                <a:t> </a:t>
              </a:r>
              <a:endParaRPr lang="en-IN" sz="1200">
                <a:effectLst/>
                <a:latin typeface="Times New Roman" panose="02020603050405020304" pitchFamily="18" charset="0"/>
                <a:ea typeface="Times New Roman" panose="02020603050405020304" pitchFamily="18" charset="0"/>
              </a:endParaRPr>
            </a:p>
          </p:txBody>
        </p:sp>
        <p:sp>
          <p:nvSpPr>
            <p:cNvPr id="62" name="Text Box 25">
              <a:extLst>
                <a:ext uri="{FF2B5EF4-FFF2-40B4-BE49-F238E27FC236}">
                  <a16:creationId xmlns:a16="http://schemas.microsoft.com/office/drawing/2014/main" id="{E3695974-0E13-3117-D98E-972070BBCEBD}"/>
                </a:ext>
              </a:extLst>
            </p:cNvPr>
            <p:cNvSpPr txBox="1"/>
            <p:nvPr/>
          </p:nvSpPr>
          <p:spPr>
            <a:xfrm>
              <a:off x="5383948" y="6812746"/>
              <a:ext cx="336191" cy="188016"/>
            </a:xfrm>
            <a:prstGeom prst="rect">
              <a:avLst/>
            </a:prstGeom>
            <a:solidFill>
              <a:sysClr val="window" lastClr="FFFFFF"/>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IN" sz="700">
                  <a:effectLst/>
                  <a:latin typeface="Times New Roman" panose="02020603050405020304" pitchFamily="18" charset="0"/>
                  <a:ea typeface="Calibri" panose="020F0502020204030204" pitchFamily="34" charset="0"/>
                  <a:cs typeface="Tunga" panose="020B0502040204020203" pitchFamily="34" charset="0"/>
                </a:rPr>
                <a:t>No</a:t>
              </a:r>
              <a:endParaRPr lang="en-IN" sz="1200">
                <a:effectLst/>
                <a:latin typeface="Times New Roman" panose="02020603050405020304" pitchFamily="18" charset="0"/>
                <a:ea typeface="Times New Roman" panose="02020603050405020304" pitchFamily="18" charset="0"/>
              </a:endParaRPr>
            </a:p>
          </p:txBody>
        </p:sp>
        <p:cxnSp>
          <p:nvCxnSpPr>
            <p:cNvPr id="63" name="Straight Arrow Connector 62">
              <a:extLst>
                <a:ext uri="{FF2B5EF4-FFF2-40B4-BE49-F238E27FC236}">
                  <a16:creationId xmlns:a16="http://schemas.microsoft.com/office/drawing/2014/main" id="{43D6174F-3A6F-DAE2-424C-CF3745A56E56}"/>
                </a:ext>
              </a:extLst>
            </p:cNvPr>
            <p:cNvCxnSpPr/>
            <p:nvPr/>
          </p:nvCxnSpPr>
          <p:spPr>
            <a:xfrm>
              <a:off x="2889277" y="4363010"/>
              <a:ext cx="214552" cy="0"/>
            </a:xfrm>
            <a:prstGeom prst="straightConnector1">
              <a:avLst/>
            </a:prstGeom>
            <a:noFill/>
            <a:ln w="9525" cap="flat" cmpd="sng" algn="ctr">
              <a:solidFill>
                <a:srgbClr val="4F81BD">
                  <a:shade val="95000"/>
                  <a:satMod val="105000"/>
                </a:srgbClr>
              </a:solidFill>
              <a:prstDash val="solid"/>
              <a:tailEnd type="arrow"/>
            </a:ln>
            <a:effectLst/>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41A3A97C-A3E3-38CD-963E-87F14F8FD0EA}"/>
                </a:ext>
              </a:extLst>
            </p:cNvPr>
            <p:cNvSpPr/>
            <p:nvPr/>
          </p:nvSpPr>
          <p:spPr>
            <a:xfrm>
              <a:off x="5232060" y="5162550"/>
              <a:ext cx="1084580" cy="353850"/>
            </a:xfrm>
            <a:prstGeom prst="rect">
              <a:avLst/>
            </a:prstGeom>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700">
                  <a:effectLst/>
                  <a:latin typeface="Times New Roman" panose="02020603050405020304" pitchFamily="18" charset="0"/>
                  <a:ea typeface="Calibri" panose="020F0502020204030204" pitchFamily="34" charset="0"/>
                  <a:cs typeface="Tunga" panose="020B0502040204020203" pitchFamily="34" charset="0"/>
                </a:rPr>
                <a:t>Send notification and turn on engine</a:t>
              </a:r>
              <a:endParaRPr lang="en-IN" sz="1200">
                <a:effectLst/>
                <a:latin typeface="Times New Roman" panose="02020603050405020304" pitchFamily="18" charset="0"/>
                <a:ea typeface="Times New Roman" panose="02020603050405020304" pitchFamily="18" charset="0"/>
              </a:endParaRPr>
            </a:p>
          </p:txBody>
        </p:sp>
        <p:sp>
          <p:nvSpPr>
            <p:cNvPr id="65" name="Rectangle 64">
              <a:extLst>
                <a:ext uri="{FF2B5EF4-FFF2-40B4-BE49-F238E27FC236}">
                  <a16:creationId xmlns:a16="http://schemas.microsoft.com/office/drawing/2014/main" id="{3AC90146-4AD7-E302-111A-90F5DD5FFEF0}"/>
                </a:ext>
              </a:extLst>
            </p:cNvPr>
            <p:cNvSpPr/>
            <p:nvPr/>
          </p:nvSpPr>
          <p:spPr>
            <a:xfrm>
              <a:off x="2951657" y="6696347"/>
              <a:ext cx="1855696" cy="447528"/>
            </a:xfrm>
            <a:prstGeom prst="rect">
              <a:avLst/>
            </a:prstGeom>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900">
                  <a:effectLst/>
                  <a:latin typeface="Times New Roman" panose="02020603050405020304" pitchFamily="18" charset="0"/>
                  <a:ea typeface="Times New Roman" panose="02020603050405020304" pitchFamily="18" charset="0"/>
                </a:rPr>
                <a:t>Send notification and turn off engine</a:t>
              </a:r>
              <a:endParaRPr lang="en-IN" sz="1200">
                <a:effectLst/>
                <a:latin typeface="Times New Roman" panose="02020603050405020304" pitchFamily="18" charset="0"/>
                <a:ea typeface="Times New Roman" panose="02020603050405020304" pitchFamily="18" charset="0"/>
              </a:endParaRPr>
            </a:p>
          </p:txBody>
        </p:sp>
        <p:cxnSp>
          <p:nvCxnSpPr>
            <p:cNvPr id="66" name="Straight Arrow Connector 65">
              <a:extLst>
                <a:ext uri="{FF2B5EF4-FFF2-40B4-BE49-F238E27FC236}">
                  <a16:creationId xmlns:a16="http://schemas.microsoft.com/office/drawing/2014/main" id="{4EB086D4-8411-485F-77D1-DCFD98E506AF}"/>
                </a:ext>
              </a:extLst>
            </p:cNvPr>
            <p:cNvCxnSpPr/>
            <p:nvPr/>
          </p:nvCxnSpPr>
          <p:spPr>
            <a:xfrm>
              <a:off x="4211022" y="6374279"/>
              <a:ext cx="0" cy="331321"/>
            </a:xfrm>
            <a:prstGeom prst="straightConnector1">
              <a:avLst/>
            </a:prstGeom>
            <a:noFill/>
            <a:ln w="9525" cap="flat" cmpd="sng" algn="ctr">
              <a:solidFill>
                <a:srgbClr val="4F81BD">
                  <a:shade val="95000"/>
                  <a:satMod val="105000"/>
                </a:srgbClr>
              </a:solidFill>
              <a:prstDash val="solid"/>
              <a:tailEnd type="arrow"/>
            </a:ln>
            <a:effectLst/>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2CD844F-4EF3-81A1-80FE-4E336CF11770}"/>
                </a:ext>
              </a:extLst>
            </p:cNvPr>
            <p:cNvCxnSpPr/>
            <p:nvPr/>
          </p:nvCxnSpPr>
          <p:spPr>
            <a:xfrm>
              <a:off x="475129" y="3435743"/>
              <a:ext cx="1452282" cy="0"/>
            </a:xfrm>
            <a:prstGeom prst="line">
              <a:avLst/>
            </a:prstGeom>
            <a:noFill/>
            <a:ln w="9525" cap="flat" cmpd="sng" algn="ctr">
              <a:solidFill>
                <a:srgbClr val="4F81BD">
                  <a:shade val="95000"/>
                  <a:satMod val="105000"/>
                </a:srgbClr>
              </a:solidFill>
              <a:prstDash val="solid"/>
              <a:tailEnd type="arrow"/>
            </a:ln>
            <a:effectLst/>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4BE1CB4-90C6-ACD3-8925-FB9142333E0C}"/>
                </a:ext>
              </a:extLst>
            </p:cNvPr>
            <p:cNvCxnSpPr/>
            <p:nvPr/>
          </p:nvCxnSpPr>
          <p:spPr>
            <a:xfrm flipV="1">
              <a:off x="475129" y="3435743"/>
              <a:ext cx="0" cy="4159924"/>
            </a:xfrm>
            <a:prstGeom prst="line">
              <a:avLst/>
            </a:prstGeom>
            <a:noFill/>
            <a:ln w="9525" cap="flat" cmpd="sng" algn="ctr">
              <a:solidFill>
                <a:srgbClr val="4F81BD">
                  <a:shade val="95000"/>
                  <a:satMod val="105000"/>
                </a:srgbClr>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2E00A0A-02D1-A24B-F09A-B5ACB614F229}"/>
                </a:ext>
              </a:extLst>
            </p:cNvPr>
            <p:cNvCxnSpPr/>
            <p:nvPr/>
          </p:nvCxnSpPr>
          <p:spPr>
            <a:xfrm flipH="1">
              <a:off x="475130" y="7595667"/>
              <a:ext cx="4806686" cy="0"/>
            </a:xfrm>
            <a:prstGeom prst="line">
              <a:avLst/>
            </a:prstGeom>
            <a:noFill/>
            <a:ln w="9525" cap="flat" cmpd="sng" algn="ctr">
              <a:solidFill>
                <a:srgbClr val="4F81BD">
                  <a:shade val="95000"/>
                  <a:satMod val="105000"/>
                </a:srgbClr>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270EA1DA-C163-EB92-7E25-4AE73396B4AA}"/>
                </a:ext>
              </a:extLst>
            </p:cNvPr>
            <p:cNvCxnSpPr/>
            <p:nvPr/>
          </p:nvCxnSpPr>
          <p:spPr>
            <a:xfrm>
              <a:off x="5300866" y="5516400"/>
              <a:ext cx="0" cy="458019"/>
            </a:xfrm>
            <a:prstGeom prst="straightConnector1">
              <a:avLst/>
            </a:prstGeom>
            <a:noFill/>
            <a:ln w="9525" cap="flat" cmpd="sng" algn="ctr">
              <a:solidFill>
                <a:srgbClr val="4F81BD">
                  <a:shade val="95000"/>
                  <a:satMod val="105000"/>
                </a:srgbClr>
              </a:solidFill>
              <a:prstDash val="solid"/>
              <a:tailEnd type="arrow"/>
            </a:ln>
            <a:effectLst/>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80E303BC-0FED-ACB2-A61E-5D616F19C89E}"/>
                </a:ext>
              </a:extLst>
            </p:cNvPr>
            <p:cNvCxnSpPr/>
            <p:nvPr/>
          </p:nvCxnSpPr>
          <p:spPr>
            <a:xfrm>
              <a:off x="3855439" y="7143875"/>
              <a:ext cx="0" cy="451792"/>
            </a:xfrm>
            <a:prstGeom prst="straightConnector1">
              <a:avLst/>
            </a:prstGeom>
            <a:noFill/>
            <a:ln w="9525" cap="flat" cmpd="sng" algn="ctr">
              <a:solidFill>
                <a:srgbClr val="4F81BD">
                  <a:shade val="95000"/>
                  <a:satMod val="105000"/>
                </a:srgbClr>
              </a:solidFill>
              <a:prstDash val="solid"/>
              <a:tailEnd type="arrow"/>
            </a:ln>
            <a:effectLst/>
          </p:spPr>
          <p:style>
            <a:lnRef idx="1">
              <a:schemeClr val="accent1"/>
            </a:lnRef>
            <a:fillRef idx="0">
              <a:schemeClr val="accent1"/>
            </a:fillRef>
            <a:effectRef idx="0">
              <a:schemeClr val="accent1"/>
            </a:effectRef>
            <a:fontRef idx="minor">
              <a:schemeClr val="tx1"/>
            </a:fontRef>
          </p:style>
        </p:cxnSp>
        <p:sp>
          <p:nvSpPr>
            <p:cNvPr id="72" name="Flowchart: Decision 71">
              <a:extLst>
                <a:ext uri="{FF2B5EF4-FFF2-40B4-BE49-F238E27FC236}">
                  <a16:creationId xmlns:a16="http://schemas.microsoft.com/office/drawing/2014/main" id="{136218EB-D150-A342-D4A2-0D2457B993FB}"/>
                </a:ext>
              </a:extLst>
            </p:cNvPr>
            <p:cNvSpPr/>
            <p:nvPr/>
          </p:nvSpPr>
          <p:spPr>
            <a:xfrm>
              <a:off x="3103829" y="3974657"/>
              <a:ext cx="1325296" cy="772795"/>
            </a:xfrm>
            <a:prstGeom prst="flowChartDecision">
              <a:avLst/>
            </a:prstGeom>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1000"/>
                </a:spcAft>
              </a:pPr>
              <a:r>
                <a:rPr lang="en-IN" sz="700">
                  <a:effectLst/>
                  <a:latin typeface="Times New Roman" panose="02020603050405020304" pitchFamily="18" charset="0"/>
                  <a:ea typeface="Calibri" panose="020F0502020204030204" pitchFamily="34" charset="0"/>
                </a:rPr>
                <a:t>Does RFID </a:t>
              </a:r>
              <a:r>
                <a:rPr lang="en-IN" sz="800">
                  <a:effectLst/>
                  <a:latin typeface="Times New Roman" panose="02020603050405020304" pitchFamily="18" charset="0"/>
                  <a:ea typeface="Calibri" panose="020F0502020204030204" pitchFamily="34" charset="0"/>
                </a:rPr>
                <a:t>match</a:t>
              </a:r>
              <a:r>
                <a:rPr lang="en-IN" sz="900">
                  <a:effectLst/>
                  <a:latin typeface="Times New Roman" panose="02020603050405020304" pitchFamily="18" charset="0"/>
                  <a:ea typeface="Calibri" panose="020F0502020204030204" pitchFamily="34" charset="0"/>
                </a:rPr>
                <a:t>?</a:t>
              </a:r>
              <a:endParaRPr lang="en-IN" sz="1200">
                <a:effectLst/>
                <a:latin typeface="Times New Roman" panose="02020603050405020304" pitchFamily="18" charset="0"/>
                <a:ea typeface="Times New Roman" panose="02020603050405020304" pitchFamily="18" charset="0"/>
              </a:endParaRPr>
            </a:p>
          </p:txBody>
        </p:sp>
        <p:cxnSp>
          <p:nvCxnSpPr>
            <p:cNvPr id="73" name="Straight Arrow Connector 72">
              <a:extLst>
                <a:ext uri="{FF2B5EF4-FFF2-40B4-BE49-F238E27FC236}">
                  <a16:creationId xmlns:a16="http://schemas.microsoft.com/office/drawing/2014/main" id="{875BEC55-6484-EFE3-B442-B385795DEE42}"/>
                </a:ext>
              </a:extLst>
            </p:cNvPr>
            <p:cNvCxnSpPr/>
            <p:nvPr/>
          </p:nvCxnSpPr>
          <p:spPr>
            <a:xfrm>
              <a:off x="4440668" y="4363010"/>
              <a:ext cx="213995" cy="0"/>
            </a:xfrm>
            <a:prstGeom prst="straightConnector1">
              <a:avLst/>
            </a:prstGeom>
            <a:noFill/>
            <a:ln w="9525" cap="flat" cmpd="sng" algn="ctr">
              <a:solidFill>
                <a:srgbClr val="4F81BD">
                  <a:shade val="95000"/>
                  <a:satMod val="105000"/>
                </a:srgbClr>
              </a:solidFill>
              <a:prstDash val="solid"/>
              <a:tailEnd type="arrow"/>
            </a:ln>
            <a:effectLst/>
          </p:spPr>
          <p:style>
            <a:lnRef idx="1">
              <a:schemeClr val="accent1"/>
            </a:lnRef>
            <a:fillRef idx="0">
              <a:schemeClr val="accent1"/>
            </a:fillRef>
            <a:effectRef idx="0">
              <a:schemeClr val="accent1"/>
            </a:effectRef>
            <a:fontRef idx="minor">
              <a:schemeClr val="tx1"/>
            </a:fontRef>
          </p:style>
        </p:cxnSp>
        <p:sp>
          <p:nvSpPr>
            <p:cNvPr id="74" name="Text Box 25">
              <a:extLst>
                <a:ext uri="{FF2B5EF4-FFF2-40B4-BE49-F238E27FC236}">
                  <a16:creationId xmlns:a16="http://schemas.microsoft.com/office/drawing/2014/main" id="{9740CDED-82B7-A353-ACA1-85FFFE9D338D}"/>
                </a:ext>
              </a:extLst>
            </p:cNvPr>
            <p:cNvSpPr txBox="1"/>
            <p:nvPr/>
          </p:nvSpPr>
          <p:spPr>
            <a:xfrm>
              <a:off x="4373012" y="4023326"/>
              <a:ext cx="434341" cy="259715"/>
            </a:xfrm>
            <a:prstGeom prst="rect">
              <a:avLst/>
            </a:prstGeom>
            <a:solidFill>
              <a:sysClr val="window" lastClr="FFFFFF"/>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buNone/>
              </a:pPr>
              <a:r>
                <a:rPr lang="en-IN" sz="1000">
                  <a:effectLst/>
                  <a:latin typeface="Times New Roman" panose="02020603050405020304" pitchFamily="18" charset="0"/>
                  <a:ea typeface="Times New Roman" panose="02020603050405020304" pitchFamily="18" charset="0"/>
                </a:rPr>
                <a:t>Yes</a:t>
              </a:r>
              <a:endParaRPr lang="en-IN" sz="1200">
                <a:effectLst/>
                <a:latin typeface="Times New Roman" panose="02020603050405020304" pitchFamily="18" charset="0"/>
                <a:ea typeface="Times New Roman" panose="02020603050405020304" pitchFamily="18" charset="0"/>
              </a:endParaRPr>
            </a:p>
            <a:p>
              <a:pPr>
                <a:lnSpc>
                  <a:spcPct val="115000"/>
                </a:lnSpc>
                <a:spcAft>
                  <a:spcPts val="1000"/>
                </a:spcAft>
              </a:pPr>
              <a:r>
                <a:rPr lang="en-IN" sz="1000">
                  <a:effectLst/>
                  <a:latin typeface="Times New Roman" panose="02020603050405020304" pitchFamily="18" charset="0"/>
                  <a:ea typeface="Times New Roman" panose="02020603050405020304" pitchFamily="18" charset="0"/>
                </a:rPr>
                <a:t> </a:t>
              </a:r>
              <a:endParaRPr lang="en-IN" sz="1200">
                <a:effectLst/>
                <a:latin typeface="Times New Roman" panose="02020603050405020304" pitchFamily="18" charset="0"/>
                <a:ea typeface="Times New Roman" panose="02020603050405020304" pitchFamily="18" charset="0"/>
              </a:endParaRPr>
            </a:p>
          </p:txBody>
        </p:sp>
        <p:sp>
          <p:nvSpPr>
            <p:cNvPr id="75" name="Flowchart: Decision 74">
              <a:extLst>
                <a:ext uri="{FF2B5EF4-FFF2-40B4-BE49-F238E27FC236}">
                  <a16:creationId xmlns:a16="http://schemas.microsoft.com/office/drawing/2014/main" id="{EB8030DF-5275-15F6-27A4-B40B9B3EC958}"/>
                </a:ext>
              </a:extLst>
            </p:cNvPr>
            <p:cNvSpPr/>
            <p:nvPr/>
          </p:nvSpPr>
          <p:spPr>
            <a:xfrm>
              <a:off x="4660107" y="3974657"/>
              <a:ext cx="1325245" cy="772795"/>
            </a:xfrm>
            <a:prstGeom prst="flowChartDecision">
              <a:avLst/>
            </a:prstGeom>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1000"/>
                </a:spcAft>
              </a:pPr>
              <a:r>
                <a:rPr lang="en-IN" sz="700">
                  <a:effectLst/>
                  <a:latin typeface="Times New Roman" panose="02020603050405020304" pitchFamily="18" charset="0"/>
                  <a:ea typeface="Calibri" panose="020F0502020204030204" pitchFamily="34" charset="0"/>
                </a:rPr>
                <a:t>Does Finger </a:t>
              </a:r>
              <a:r>
                <a:rPr lang="en-IN" sz="800">
                  <a:effectLst/>
                  <a:latin typeface="Times New Roman" panose="02020603050405020304" pitchFamily="18" charset="0"/>
                  <a:ea typeface="Calibri" panose="020F0502020204030204" pitchFamily="34" charset="0"/>
                </a:rPr>
                <a:t>match</a:t>
              </a:r>
              <a:r>
                <a:rPr lang="en-IN" sz="900">
                  <a:effectLst/>
                  <a:latin typeface="Times New Roman" panose="02020603050405020304" pitchFamily="18" charset="0"/>
                  <a:ea typeface="Calibri" panose="020F0502020204030204" pitchFamily="34" charset="0"/>
                </a:rPr>
                <a:t>?</a:t>
              </a:r>
              <a:endParaRPr lang="en-IN" sz="1200">
                <a:effectLst/>
                <a:latin typeface="Times New Roman" panose="02020603050405020304" pitchFamily="18" charset="0"/>
                <a:ea typeface="Times New Roman" panose="02020603050405020304" pitchFamily="18" charset="0"/>
              </a:endParaRPr>
            </a:p>
          </p:txBody>
        </p:sp>
        <p:cxnSp>
          <p:nvCxnSpPr>
            <p:cNvPr id="76" name="Straight Connector 75">
              <a:extLst>
                <a:ext uri="{FF2B5EF4-FFF2-40B4-BE49-F238E27FC236}">
                  <a16:creationId xmlns:a16="http://schemas.microsoft.com/office/drawing/2014/main" id="{025BB154-2725-656D-3DAC-74B9BEFA3ADE}"/>
                </a:ext>
              </a:extLst>
            </p:cNvPr>
            <p:cNvCxnSpPr/>
            <p:nvPr/>
          </p:nvCxnSpPr>
          <p:spPr>
            <a:xfrm>
              <a:off x="3750605" y="4747452"/>
              <a:ext cx="0" cy="22098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6AD62484-3562-001F-BECC-39ADD9744502}"/>
                </a:ext>
              </a:extLst>
            </p:cNvPr>
            <p:cNvCxnSpPr/>
            <p:nvPr/>
          </p:nvCxnSpPr>
          <p:spPr>
            <a:xfrm>
              <a:off x="5322230" y="4739775"/>
              <a:ext cx="0" cy="22098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82D2E9C-8D5B-C741-D179-0105F1A1A489}"/>
                </a:ext>
              </a:extLst>
            </p:cNvPr>
            <p:cNvCxnSpPr/>
            <p:nvPr/>
          </p:nvCxnSpPr>
          <p:spPr>
            <a:xfrm>
              <a:off x="2078690" y="4968432"/>
              <a:ext cx="3243540" cy="0"/>
            </a:xfrm>
            <a:prstGeom prst="line">
              <a:avLst/>
            </a:prstGeom>
          </p:spPr>
          <p:style>
            <a:lnRef idx="1">
              <a:schemeClr val="accent1"/>
            </a:lnRef>
            <a:fillRef idx="0">
              <a:schemeClr val="accent1"/>
            </a:fillRef>
            <a:effectRef idx="0">
              <a:schemeClr val="accent1"/>
            </a:effectRef>
            <a:fontRef idx="minor">
              <a:schemeClr val="tx1"/>
            </a:fontRef>
          </p:style>
        </p:cxnSp>
        <p:sp>
          <p:nvSpPr>
            <p:cNvPr id="79" name="Text Box 19">
              <a:extLst>
                <a:ext uri="{FF2B5EF4-FFF2-40B4-BE49-F238E27FC236}">
                  <a16:creationId xmlns:a16="http://schemas.microsoft.com/office/drawing/2014/main" id="{BC943F5A-C578-7586-B1EF-5215E010F7E9}"/>
                </a:ext>
              </a:extLst>
            </p:cNvPr>
            <p:cNvSpPr txBox="1"/>
            <p:nvPr/>
          </p:nvSpPr>
          <p:spPr>
            <a:xfrm>
              <a:off x="3238611" y="4708717"/>
              <a:ext cx="356235" cy="25971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IN" sz="700">
                  <a:effectLst/>
                  <a:latin typeface="Times New Roman" panose="02020603050405020304" pitchFamily="18" charset="0"/>
                  <a:ea typeface="Calibri" panose="020F0502020204030204" pitchFamily="34" charset="0"/>
                </a:rPr>
                <a:t>No</a:t>
              </a:r>
              <a:endParaRPr lang="en-IN" sz="1200">
                <a:effectLst/>
                <a:latin typeface="Times New Roman" panose="02020603050405020304" pitchFamily="18" charset="0"/>
                <a:ea typeface="Times New Roman" panose="02020603050405020304" pitchFamily="18" charset="0"/>
              </a:endParaRPr>
            </a:p>
          </p:txBody>
        </p:sp>
        <p:sp>
          <p:nvSpPr>
            <p:cNvPr id="80" name="Text Box 19">
              <a:extLst>
                <a:ext uri="{FF2B5EF4-FFF2-40B4-BE49-F238E27FC236}">
                  <a16:creationId xmlns:a16="http://schemas.microsoft.com/office/drawing/2014/main" id="{BDE25FC5-3A4F-D1ED-455C-DD503AA1CAD8}"/>
                </a:ext>
              </a:extLst>
            </p:cNvPr>
            <p:cNvSpPr txBox="1"/>
            <p:nvPr/>
          </p:nvSpPr>
          <p:spPr>
            <a:xfrm>
              <a:off x="4875825" y="4701040"/>
              <a:ext cx="356235" cy="25971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IN" sz="700">
                  <a:effectLst/>
                  <a:latin typeface="Times New Roman" panose="02020603050405020304" pitchFamily="18" charset="0"/>
                  <a:ea typeface="Calibri" panose="020F0502020204030204" pitchFamily="34" charset="0"/>
                </a:rPr>
                <a:t>No</a:t>
              </a:r>
              <a:endParaRPr lang="en-IN" sz="1200">
                <a:effectLst/>
                <a:latin typeface="Times New Roman" panose="02020603050405020304" pitchFamily="18" charset="0"/>
                <a:ea typeface="Times New Roman" panose="02020603050405020304" pitchFamily="18" charset="0"/>
              </a:endParaRPr>
            </a:p>
          </p:txBody>
        </p:sp>
        <p:sp>
          <p:nvSpPr>
            <p:cNvPr id="81" name="Text Box 25">
              <a:extLst>
                <a:ext uri="{FF2B5EF4-FFF2-40B4-BE49-F238E27FC236}">
                  <a16:creationId xmlns:a16="http://schemas.microsoft.com/office/drawing/2014/main" id="{6B1A7599-7358-E9E9-20F8-EDA48892D42C}"/>
                </a:ext>
              </a:extLst>
            </p:cNvPr>
            <p:cNvSpPr txBox="1"/>
            <p:nvPr/>
          </p:nvSpPr>
          <p:spPr>
            <a:xfrm>
              <a:off x="5932715" y="4046167"/>
              <a:ext cx="435216" cy="259715"/>
            </a:xfrm>
            <a:prstGeom prst="rect">
              <a:avLst/>
            </a:prstGeom>
            <a:solidFill>
              <a:sysClr val="window" lastClr="FFFFFF"/>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buNone/>
              </a:pPr>
              <a:r>
                <a:rPr lang="en-IN" sz="1000">
                  <a:effectLst/>
                  <a:latin typeface="Times New Roman" panose="02020603050405020304" pitchFamily="18" charset="0"/>
                  <a:ea typeface="Times New Roman" panose="02020603050405020304" pitchFamily="18" charset="0"/>
                </a:rPr>
                <a:t>Yes</a:t>
              </a:r>
              <a:endParaRPr lang="en-IN" sz="1200">
                <a:effectLst/>
                <a:latin typeface="Times New Roman" panose="02020603050405020304" pitchFamily="18" charset="0"/>
                <a:ea typeface="Times New Roman" panose="02020603050405020304" pitchFamily="18" charset="0"/>
              </a:endParaRPr>
            </a:p>
            <a:p>
              <a:pPr>
                <a:lnSpc>
                  <a:spcPct val="115000"/>
                </a:lnSpc>
                <a:spcAft>
                  <a:spcPts val="1000"/>
                </a:spcAft>
              </a:pPr>
              <a:r>
                <a:rPr lang="en-IN" sz="1200">
                  <a:effectLst/>
                  <a:latin typeface="Times New Roman" panose="02020603050405020304" pitchFamily="18" charset="0"/>
                  <a:ea typeface="Times New Roman" panose="02020603050405020304" pitchFamily="18" charset="0"/>
                </a:rPr>
                <a:t> </a:t>
              </a:r>
            </a:p>
          </p:txBody>
        </p:sp>
        <p:cxnSp>
          <p:nvCxnSpPr>
            <p:cNvPr id="82" name="Straight Connector 81">
              <a:extLst>
                <a:ext uri="{FF2B5EF4-FFF2-40B4-BE49-F238E27FC236}">
                  <a16:creationId xmlns:a16="http://schemas.microsoft.com/office/drawing/2014/main" id="{D00DD936-5AAD-C4AD-EE9E-1548ED73146D}"/>
                </a:ext>
              </a:extLst>
            </p:cNvPr>
            <p:cNvCxnSpPr/>
            <p:nvPr/>
          </p:nvCxnSpPr>
          <p:spPr>
            <a:xfrm>
              <a:off x="5281816" y="6772979"/>
              <a:ext cx="0" cy="822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0FE0E352-6818-0FB2-04EB-24EA70108F58}"/>
                </a:ext>
              </a:extLst>
            </p:cNvPr>
            <p:cNvCxnSpPr/>
            <p:nvPr/>
          </p:nvCxnSpPr>
          <p:spPr>
            <a:xfrm>
              <a:off x="2189657" y="5516400"/>
              <a:ext cx="0" cy="2079267"/>
            </a:xfrm>
            <a:prstGeom prst="straightConnector1">
              <a:avLst/>
            </a:prstGeom>
            <a:noFill/>
            <a:ln w="9525" cap="flat" cmpd="sng" algn="ctr">
              <a:solidFill>
                <a:srgbClr val="4F81BD">
                  <a:shade val="95000"/>
                  <a:satMod val="105000"/>
                </a:srgbClr>
              </a:solidFill>
              <a:prstDash val="solid"/>
              <a:tailEnd type="arrow"/>
            </a:ln>
            <a:effectLst/>
          </p:spPr>
          <p:style>
            <a:lnRef idx="1">
              <a:schemeClr val="accent1"/>
            </a:lnRef>
            <a:fillRef idx="0">
              <a:schemeClr val="accent1"/>
            </a:fillRef>
            <a:effectRef idx="0">
              <a:schemeClr val="accent1"/>
            </a:effectRef>
            <a:fontRef idx="minor">
              <a:schemeClr val="tx1"/>
            </a:fontRef>
          </p:style>
        </p:cxnSp>
        <p:sp>
          <p:nvSpPr>
            <p:cNvPr id="84" name="Oval 83">
              <a:extLst>
                <a:ext uri="{FF2B5EF4-FFF2-40B4-BE49-F238E27FC236}">
                  <a16:creationId xmlns:a16="http://schemas.microsoft.com/office/drawing/2014/main" id="{A07C98AE-726F-F5DC-BBB4-5E2BE370BD89}"/>
                </a:ext>
              </a:extLst>
            </p:cNvPr>
            <p:cNvSpPr/>
            <p:nvPr/>
          </p:nvSpPr>
          <p:spPr>
            <a:xfrm>
              <a:off x="2622765" y="8003208"/>
              <a:ext cx="833120" cy="429895"/>
            </a:xfrm>
            <a:prstGeom prst="ellipse">
              <a:avLst/>
            </a:prstGeom>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100">
                  <a:effectLst/>
                  <a:latin typeface="Times New Roman" panose="02020603050405020304" pitchFamily="18" charset="0"/>
                  <a:ea typeface="Calibri" panose="020F0502020204030204" pitchFamily="34" charset="0"/>
                </a:rPr>
                <a:t>Stop</a:t>
              </a:r>
              <a:endParaRPr lang="en-IN" sz="1200">
                <a:effectLst/>
                <a:latin typeface="Times New Roman" panose="02020603050405020304" pitchFamily="18" charset="0"/>
                <a:ea typeface="Times New Roman" panose="02020603050405020304" pitchFamily="18" charset="0"/>
              </a:endParaRPr>
            </a:p>
          </p:txBody>
        </p:sp>
        <p:cxnSp>
          <p:nvCxnSpPr>
            <p:cNvPr id="85" name="Straight Arrow Connector 84">
              <a:extLst>
                <a:ext uri="{FF2B5EF4-FFF2-40B4-BE49-F238E27FC236}">
                  <a16:creationId xmlns:a16="http://schemas.microsoft.com/office/drawing/2014/main" id="{4BC1A596-87A9-35F3-AA46-0F387A68E56A}"/>
                </a:ext>
              </a:extLst>
            </p:cNvPr>
            <p:cNvCxnSpPr/>
            <p:nvPr/>
          </p:nvCxnSpPr>
          <p:spPr>
            <a:xfrm>
              <a:off x="3037500" y="7595667"/>
              <a:ext cx="4445" cy="394335"/>
            </a:xfrm>
            <a:prstGeom prst="straightConnector1">
              <a:avLst/>
            </a:prstGeom>
            <a:noFill/>
            <a:ln w="9525" cap="flat" cmpd="sng" algn="ctr">
              <a:solidFill>
                <a:srgbClr val="4F81BD">
                  <a:shade val="95000"/>
                  <a:satMod val="105000"/>
                </a:srgbClr>
              </a:solidFill>
              <a:prstDash val="solid"/>
              <a:tailEnd type="arrow"/>
            </a:ln>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19919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838200"/>
            <a:ext cx="7620000" cy="548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2119918" y="348110"/>
            <a:ext cx="4904163" cy="523220"/>
          </a:xfrm>
          <a:prstGeom prst="rect">
            <a:avLst/>
          </a:prstGeom>
        </p:spPr>
        <p:txBody>
          <a:bodyPr wrap="none">
            <a:spAutoFit/>
          </a:bodyPr>
          <a:lstStyle/>
          <a:p>
            <a:r>
              <a:rPr lang="en-US" sz="2800" b="1" dirty="0">
                <a:latin typeface="Times New Roman" pitchFamily="18" charset="0"/>
                <a:cs typeface="Times New Roman" pitchFamily="18" charset="0"/>
              </a:rPr>
              <a:t>HARDWARE DESCRIPTION</a:t>
            </a:r>
          </a:p>
        </p:txBody>
      </p:sp>
      <p:sp>
        <p:nvSpPr>
          <p:cNvPr id="6" name="Rectangle 5"/>
          <p:cNvSpPr/>
          <p:nvPr/>
        </p:nvSpPr>
        <p:spPr>
          <a:xfrm>
            <a:off x="375190" y="1249808"/>
            <a:ext cx="5257800" cy="2862322"/>
          </a:xfrm>
          <a:prstGeom prst="rect">
            <a:avLst/>
          </a:prstGeom>
        </p:spPr>
        <p:txBody>
          <a:bodyPr wrap="square">
            <a:spAutoFit/>
          </a:bodyPr>
          <a:lstStyle/>
          <a:p>
            <a:pPr algn="just"/>
            <a:r>
              <a:rPr lang="en-IN" sz="2000" b="1" dirty="0">
                <a:latin typeface="Times New Roman" pitchFamily="18" charset="0"/>
                <a:cs typeface="Times New Roman" pitchFamily="18" charset="0"/>
              </a:rPr>
              <a:t>1.ESP32 Development Board (e.g., ESP32- </a:t>
            </a:r>
          </a:p>
          <a:p>
            <a:pPr algn="just"/>
            <a:r>
              <a:rPr lang="en-IN" sz="2000" b="1" dirty="0">
                <a:latin typeface="Times New Roman" pitchFamily="18" charset="0"/>
                <a:cs typeface="Times New Roman" pitchFamily="18" charset="0"/>
              </a:rPr>
              <a:t>   WROOM-32 based):</a:t>
            </a:r>
            <a:endParaRPr lang="en-US" sz="2000" dirty="0">
              <a:latin typeface="Times New Roman" pitchFamily="18" charset="0"/>
              <a:cs typeface="Times New Roman" pitchFamily="18" charset="0"/>
            </a:endParaRPr>
          </a:p>
          <a:p>
            <a:pPr marL="342900" indent="-342900" algn="just">
              <a:buFont typeface="Arial" pitchFamily="34" charset="0"/>
              <a:buChar char="•"/>
            </a:pPr>
            <a:endParaRPr lang="en-US" sz="2000" dirty="0">
              <a:latin typeface="Times New Roman" pitchFamily="18" charset="0"/>
              <a:cs typeface="Times New Roman" pitchFamily="18" charset="0"/>
            </a:endParaRPr>
          </a:p>
          <a:p>
            <a:pPr marL="342900" indent="-342900" algn="just">
              <a:buFont typeface="Arial" pitchFamily="34" charset="0"/>
              <a:buChar char="•"/>
            </a:pPr>
            <a:r>
              <a:rPr lang="en-US" sz="2000" dirty="0">
                <a:latin typeface="Times New Roman" pitchFamily="18" charset="0"/>
                <a:cs typeface="Times New Roman" pitchFamily="18" charset="0"/>
              </a:rPr>
              <a:t>This is a small computer with Wi-Fi and Bluetooth.</a:t>
            </a:r>
          </a:p>
          <a:p>
            <a:pPr marL="342900" indent="-342900" algn="just">
              <a:buFont typeface="Arial" pitchFamily="34" charset="0"/>
              <a:buChar char="•"/>
            </a:pPr>
            <a:r>
              <a:rPr lang="en-US" sz="2000" b="1" dirty="0">
                <a:latin typeface="Times New Roman" pitchFamily="18" charset="0"/>
                <a:cs typeface="Times New Roman" pitchFamily="18" charset="0"/>
              </a:rPr>
              <a:t>Use: </a:t>
            </a:r>
            <a:r>
              <a:rPr lang="en-US" sz="2000" dirty="0">
                <a:latin typeface="Times New Roman" pitchFamily="18" charset="0"/>
                <a:cs typeface="Times New Roman" pitchFamily="18" charset="0"/>
              </a:rPr>
              <a:t>It controls the whole system and connects to all the sensors. It decides whether to allow the vehicle to start or not.</a:t>
            </a:r>
          </a:p>
          <a:p>
            <a:pPr marL="342900" indent="-342900" algn="just">
              <a:buFont typeface="Arial" pitchFamily="34" charset="0"/>
              <a:buChar char="•"/>
            </a:pPr>
            <a:endParaRPr lang="en-US" sz="2000" dirty="0">
              <a:latin typeface="Times New Roman" pitchFamily="18" charset="0"/>
              <a:cs typeface="Times New Roman" pitchFamily="18" charset="0"/>
            </a:endParaRPr>
          </a:p>
        </p:txBody>
      </p:sp>
      <p:sp>
        <p:nvSpPr>
          <p:cNvPr id="9" name="Rectangle 8"/>
          <p:cNvSpPr/>
          <p:nvPr/>
        </p:nvSpPr>
        <p:spPr>
          <a:xfrm>
            <a:off x="-33130" y="4112130"/>
            <a:ext cx="2420856" cy="400110"/>
          </a:xfrm>
          <a:prstGeom prst="rect">
            <a:avLst/>
          </a:prstGeom>
        </p:spPr>
        <p:txBody>
          <a:bodyPr wrap="none">
            <a:spAutoFit/>
          </a:bodyPr>
          <a:lstStyle/>
          <a:p>
            <a:pPr lvl="1"/>
            <a:r>
              <a:rPr lang="en-US" sz="2000" b="1" dirty="0">
                <a:latin typeface="Times New Roman" pitchFamily="18" charset="0"/>
                <a:cs typeface="Times New Roman" pitchFamily="18" charset="0"/>
              </a:rPr>
              <a:t>2.LCD Display :</a:t>
            </a:r>
          </a:p>
        </p:txBody>
      </p:sp>
      <p:sp>
        <p:nvSpPr>
          <p:cNvPr id="10" name="Rectangle 9"/>
          <p:cNvSpPr/>
          <p:nvPr/>
        </p:nvSpPr>
        <p:spPr>
          <a:xfrm>
            <a:off x="375190" y="4681745"/>
            <a:ext cx="4935315" cy="1323439"/>
          </a:xfrm>
          <a:prstGeom prst="rect">
            <a:avLst/>
          </a:prstGeom>
        </p:spPr>
        <p:txBody>
          <a:bodyPr wrap="square">
            <a:spAutoFit/>
          </a:bodyPr>
          <a:lstStyle/>
          <a:p>
            <a:pPr marL="342900" indent="-342900" algn="just">
              <a:buFont typeface="Arial" pitchFamily="34" charset="0"/>
              <a:buChar char="•"/>
            </a:pPr>
            <a:r>
              <a:rPr lang="en-US" sz="2000" dirty="0">
                <a:latin typeface="Times New Roman" pitchFamily="18" charset="0"/>
                <a:cs typeface="Times New Roman" pitchFamily="18" charset="0"/>
              </a:rPr>
              <a:t>A simple screen to display messages.</a:t>
            </a:r>
          </a:p>
          <a:p>
            <a:pPr marL="342900" indent="-342900" algn="just">
              <a:buFont typeface="Arial" pitchFamily="34" charset="0"/>
              <a:buChar char="•"/>
            </a:pPr>
            <a:r>
              <a:rPr lang="en-US" sz="2000" b="1" dirty="0">
                <a:latin typeface="Times New Roman" pitchFamily="18" charset="0"/>
                <a:cs typeface="Times New Roman" pitchFamily="18" charset="0"/>
              </a:rPr>
              <a:t>Use: </a:t>
            </a:r>
            <a:r>
              <a:rPr lang="en-US" sz="2000" dirty="0">
                <a:latin typeface="Times New Roman" pitchFamily="18" charset="0"/>
                <a:cs typeface="Times New Roman" pitchFamily="18" charset="0"/>
              </a:rPr>
              <a:t>Shows system status messages like "Scan </a:t>
            </a:r>
            <a:r>
              <a:rPr lang="en-US" sz="2000" dirty="0" err="1">
                <a:latin typeface="Times New Roman" pitchFamily="18" charset="0"/>
                <a:cs typeface="Times New Roman" pitchFamily="18" charset="0"/>
              </a:rPr>
              <a:t>Finger","Access</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Granted","Alcohol</a:t>
            </a:r>
            <a:r>
              <a:rPr lang="en-US" sz="2000" dirty="0">
                <a:latin typeface="Times New Roman" pitchFamily="18" charset="0"/>
                <a:cs typeface="Times New Roman" pitchFamily="18" charset="0"/>
              </a:rPr>
              <a:t> Detected", etc., to the user.</a:t>
            </a:r>
          </a:p>
        </p:txBody>
      </p:sp>
      <p:pic>
        <p:nvPicPr>
          <p:cNvPr id="11" name="Image 17"/>
          <p:cNvPicPr/>
          <p:nvPr/>
        </p:nvPicPr>
        <p:blipFill>
          <a:blip r:embed="rId2" cstate="print"/>
          <a:stretch>
            <a:fillRect/>
          </a:stretch>
        </p:blipFill>
        <p:spPr>
          <a:xfrm>
            <a:off x="5778595" y="4548683"/>
            <a:ext cx="3295015" cy="1390650"/>
          </a:xfrm>
          <a:prstGeom prst="rect">
            <a:avLst/>
          </a:prstGeom>
        </p:spPr>
      </p:pic>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1219200"/>
            <a:ext cx="28194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2431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3" y="228600"/>
            <a:ext cx="1653017" cy="400110"/>
          </a:xfrm>
          <a:prstGeom prst="rect">
            <a:avLst/>
          </a:prstGeom>
        </p:spPr>
        <p:txBody>
          <a:bodyPr wrap="none">
            <a:spAutoFit/>
          </a:bodyPr>
          <a:lstStyle/>
          <a:p>
            <a:pPr lvl="1"/>
            <a:r>
              <a:rPr lang="en-US" sz="2000" b="1" dirty="0">
                <a:latin typeface="Times New Roman" pitchFamily="18" charset="0"/>
                <a:cs typeface="Times New Roman" pitchFamily="18" charset="0"/>
              </a:rPr>
              <a:t>3.Relay :</a:t>
            </a:r>
            <a:r>
              <a:rPr lang="en-US" b="1" dirty="0"/>
              <a:t> </a:t>
            </a:r>
          </a:p>
        </p:txBody>
      </p:sp>
      <p:sp>
        <p:nvSpPr>
          <p:cNvPr id="3" name="Rectangle 2"/>
          <p:cNvSpPr/>
          <p:nvPr/>
        </p:nvSpPr>
        <p:spPr>
          <a:xfrm>
            <a:off x="533400" y="713815"/>
            <a:ext cx="5457914" cy="1631216"/>
          </a:xfrm>
          <a:prstGeom prst="rect">
            <a:avLst/>
          </a:prstGeom>
        </p:spPr>
        <p:txBody>
          <a:bodyPr wrap="square">
            <a:spAutoFit/>
          </a:bodyPr>
          <a:lstStyle/>
          <a:p>
            <a:pPr marL="342900" indent="-342900" algn="just">
              <a:buFont typeface="Arial" pitchFamily="34" charset="0"/>
              <a:buChar char="•"/>
            </a:pPr>
            <a:r>
              <a:rPr lang="en-US" sz="2000" dirty="0">
                <a:latin typeface="Times New Roman" pitchFamily="18" charset="0"/>
                <a:cs typeface="Times New Roman" pitchFamily="18" charset="0"/>
              </a:rPr>
              <a:t>An electrically controlled switch.</a:t>
            </a:r>
          </a:p>
          <a:p>
            <a:pPr marL="342900" indent="-342900" algn="just">
              <a:buFont typeface="Arial" pitchFamily="34" charset="0"/>
              <a:buChar char="•"/>
            </a:pPr>
            <a:r>
              <a:rPr lang="en-US" sz="2000" b="1" dirty="0">
                <a:latin typeface="Times New Roman" pitchFamily="18" charset="0"/>
                <a:cs typeface="Times New Roman" pitchFamily="18" charset="0"/>
              </a:rPr>
              <a:t>Use:</a:t>
            </a:r>
            <a:r>
              <a:rPr lang="en-US" sz="2000" dirty="0">
                <a:latin typeface="Times New Roman" pitchFamily="18" charset="0"/>
                <a:cs typeface="Times New Roman" pitchFamily="18" charset="0"/>
              </a:rPr>
              <a:t> Controls the connection to the vehicle's ignition system. The ESP 32 turns the relay ON/OFF to start or block the engine based on authentication.</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24714" y="656484"/>
            <a:ext cx="2466886"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6838" y="2430136"/>
            <a:ext cx="2116477" cy="400110"/>
          </a:xfrm>
          <a:prstGeom prst="rect">
            <a:avLst/>
          </a:prstGeom>
        </p:spPr>
        <p:txBody>
          <a:bodyPr wrap="none">
            <a:spAutoFit/>
          </a:bodyPr>
          <a:lstStyle/>
          <a:p>
            <a:pPr lvl="1"/>
            <a:r>
              <a:rPr lang="en-US" sz="2000" b="1" dirty="0">
                <a:latin typeface="Times New Roman" pitchFamily="18" charset="0"/>
                <a:cs typeface="Times New Roman" pitchFamily="18" charset="0"/>
              </a:rPr>
              <a:t>4.DC Motor :</a:t>
            </a:r>
          </a:p>
        </p:txBody>
      </p:sp>
      <p:sp>
        <p:nvSpPr>
          <p:cNvPr id="8" name="Rectangle 7"/>
          <p:cNvSpPr/>
          <p:nvPr/>
        </p:nvSpPr>
        <p:spPr>
          <a:xfrm>
            <a:off x="569718" y="3019961"/>
            <a:ext cx="5421596" cy="1323439"/>
          </a:xfrm>
          <a:prstGeom prst="rect">
            <a:avLst/>
          </a:prstGeom>
        </p:spPr>
        <p:txBody>
          <a:bodyPr wrap="square">
            <a:spAutoFit/>
          </a:bodyPr>
          <a:lstStyle/>
          <a:p>
            <a:pPr marL="342900" indent="-342900" algn="just">
              <a:buFont typeface="Arial" pitchFamily="34" charset="0"/>
              <a:buChar char="•"/>
            </a:pPr>
            <a:r>
              <a:rPr lang="en-US" sz="2000" dirty="0">
                <a:latin typeface="Times New Roman" pitchFamily="18" charset="0"/>
                <a:cs typeface="Times New Roman" pitchFamily="18" charset="0"/>
              </a:rPr>
              <a:t>An electric motor that runs on direct current.</a:t>
            </a:r>
          </a:p>
          <a:p>
            <a:pPr marL="342900" indent="-342900" algn="just">
              <a:buFont typeface="Arial" pitchFamily="34" charset="0"/>
              <a:buChar char="•"/>
            </a:pPr>
            <a:r>
              <a:rPr lang="en-US" sz="2000" b="1" dirty="0">
                <a:latin typeface="Times New Roman" pitchFamily="18" charset="0"/>
                <a:cs typeface="Times New Roman" pitchFamily="18" charset="0"/>
              </a:rPr>
              <a:t>Use: </a:t>
            </a:r>
            <a:r>
              <a:rPr lang="en-US" sz="2000" dirty="0">
                <a:latin typeface="Times New Roman" pitchFamily="18" charset="0"/>
                <a:cs typeface="Times New Roman" pitchFamily="18" charset="0"/>
              </a:rPr>
              <a:t>Can be used to simulate engine operation or control doors/locks once authentication is successful.</a:t>
            </a:r>
          </a:p>
        </p:txBody>
      </p:sp>
      <p:pic>
        <p:nvPicPr>
          <p:cNvPr id="10" name="Image 34"/>
          <p:cNvPicPr/>
          <p:nvPr/>
        </p:nvPicPr>
        <p:blipFill>
          <a:blip r:embed="rId3" cstate="print"/>
          <a:stretch>
            <a:fillRect/>
          </a:stretch>
        </p:blipFill>
        <p:spPr>
          <a:xfrm>
            <a:off x="6334308" y="2743200"/>
            <a:ext cx="2809691" cy="1600200"/>
          </a:xfrm>
          <a:prstGeom prst="rect">
            <a:avLst/>
          </a:prstGeom>
        </p:spPr>
      </p:pic>
      <p:sp>
        <p:nvSpPr>
          <p:cNvPr id="7" name="Rectangle 6"/>
          <p:cNvSpPr/>
          <p:nvPr/>
        </p:nvSpPr>
        <p:spPr>
          <a:xfrm>
            <a:off x="533400" y="4724400"/>
            <a:ext cx="2882712" cy="400110"/>
          </a:xfrm>
          <a:prstGeom prst="rect">
            <a:avLst/>
          </a:prstGeom>
        </p:spPr>
        <p:txBody>
          <a:bodyPr wrap="none">
            <a:spAutoFit/>
          </a:bodyPr>
          <a:lstStyle/>
          <a:p>
            <a:r>
              <a:rPr lang="en-IN" b="1" dirty="0">
                <a:latin typeface="Times New Roman" pitchFamily="18" charset="0"/>
                <a:cs typeface="Times New Roman" pitchFamily="18" charset="0"/>
              </a:rPr>
              <a:t>5.</a:t>
            </a:r>
            <a:r>
              <a:rPr lang="en-IN" sz="2000" b="1" dirty="0">
                <a:latin typeface="Times New Roman" pitchFamily="18" charset="0"/>
                <a:cs typeface="Times New Roman" pitchFamily="18" charset="0"/>
              </a:rPr>
              <a:t>Alcohol Sensor </a:t>
            </a:r>
            <a:r>
              <a:rPr lang="en-IN" b="1" dirty="0">
                <a:latin typeface="Times New Roman" pitchFamily="18" charset="0"/>
                <a:cs typeface="Times New Roman" pitchFamily="18" charset="0"/>
              </a:rPr>
              <a:t>(MQ-3):</a:t>
            </a:r>
            <a:endParaRPr lang="en-US" dirty="0">
              <a:latin typeface="Times New Roman" pitchFamily="18" charset="0"/>
              <a:cs typeface="Times New Roman" pitchFamily="18" charset="0"/>
            </a:endParaRPr>
          </a:p>
        </p:txBody>
      </p:sp>
      <p:pic>
        <p:nvPicPr>
          <p:cNvPr id="12" name="Image 49"/>
          <p:cNvPicPr/>
          <p:nvPr/>
        </p:nvPicPr>
        <p:blipFill>
          <a:blip r:embed="rId4" cstate="print"/>
          <a:stretch>
            <a:fillRect/>
          </a:stretch>
        </p:blipFill>
        <p:spPr>
          <a:xfrm>
            <a:off x="6329565" y="5017532"/>
            <a:ext cx="2498073" cy="1383268"/>
          </a:xfrm>
          <a:prstGeom prst="rect">
            <a:avLst/>
          </a:prstGeom>
        </p:spPr>
      </p:pic>
      <p:sp>
        <p:nvSpPr>
          <p:cNvPr id="9" name="Rectangle 8"/>
          <p:cNvSpPr/>
          <p:nvPr/>
        </p:nvSpPr>
        <p:spPr>
          <a:xfrm>
            <a:off x="569718" y="5226286"/>
            <a:ext cx="5421596" cy="923330"/>
          </a:xfrm>
          <a:prstGeom prst="rect">
            <a:avLst/>
          </a:prstGeom>
        </p:spPr>
        <p:txBody>
          <a:bodyPr wrap="square">
            <a:spAutoFit/>
          </a:bodyPr>
          <a:lstStyle/>
          <a:p>
            <a:pPr marL="342900" indent="-342900" algn="just">
              <a:buFont typeface="Arial" pitchFamily="34" charset="0"/>
              <a:buChar char="•"/>
            </a:pPr>
            <a:r>
              <a:rPr lang="en-US" dirty="0">
                <a:latin typeface="Times New Roman" pitchFamily="18" charset="0"/>
                <a:cs typeface="Times New Roman" pitchFamily="18" charset="0"/>
              </a:rPr>
              <a:t>This sensor can detect alcohol in the driver's breath.</a:t>
            </a:r>
          </a:p>
          <a:p>
            <a:pPr marL="342900" indent="-342900" algn="just">
              <a:buFont typeface="Arial" pitchFamily="34" charset="0"/>
              <a:buChar char="•"/>
            </a:pPr>
            <a:r>
              <a:rPr lang="en-US" b="1" dirty="0">
                <a:latin typeface="Times New Roman" pitchFamily="18" charset="0"/>
                <a:cs typeface="Times New Roman" pitchFamily="18" charset="0"/>
              </a:rPr>
              <a:t>Use: </a:t>
            </a:r>
            <a:r>
              <a:rPr lang="en-US" dirty="0">
                <a:latin typeface="Times New Roman" pitchFamily="18" charset="0"/>
                <a:cs typeface="Times New Roman" pitchFamily="18" charset="0"/>
              </a:rPr>
              <a:t>If it senses alcohol, it stops the vehicle. This helps prevent drunk driving.</a:t>
            </a:r>
          </a:p>
        </p:txBody>
      </p:sp>
    </p:spTree>
    <p:extLst>
      <p:ext uri="{BB962C8B-B14F-4D97-AF65-F5344CB8AC3E}">
        <p14:creationId xmlns:p14="http://schemas.microsoft.com/office/powerpoint/2010/main" val="1638460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87355"/>
            <a:ext cx="3066865" cy="400110"/>
          </a:xfrm>
          <a:prstGeom prst="rect">
            <a:avLst/>
          </a:prstGeom>
        </p:spPr>
        <p:txBody>
          <a:bodyPr wrap="none">
            <a:spAutoFit/>
          </a:bodyPr>
          <a:lstStyle/>
          <a:p>
            <a:pPr lvl="1"/>
            <a:r>
              <a:rPr lang="en-US" sz="2000" b="1" dirty="0">
                <a:latin typeface="Times New Roman" pitchFamily="18" charset="0"/>
                <a:cs typeface="Times New Roman" pitchFamily="18" charset="0"/>
              </a:rPr>
              <a:t>6.Fingerprint Reader:</a:t>
            </a:r>
          </a:p>
        </p:txBody>
      </p:sp>
      <p:sp>
        <p:nvSpPr>
          <p:cNvPr id="3" name="Rectangle 2"/>
          <p:cNvSpPr/>
          <p:nvPr/>
        </p:nvSpPr>
        <p:spPr>
          <a:xfrm>
            <a:off x="724545" y="688255"/>
            <a:ext cx="5676255" cy="1631216"/>
          </a:xfrm>
          <a:prstGeom prst="rect">
            <a:avLst/>
          </a:prstGeom>
        </p:spPr>
        <p:txBody>
          <a:bodyPr wrap="square">
            <a:spAutoFit/>
          </a:bodyPr>
          <a:lstStyle/>
          <a:p>
            <a:pPr marL="342900" indent="-342900" algn="just">
              <a:buFont typeface="Arial" pitchFamily="34" charset="0"/>
              <a:buChar char="•"/>
            </a:pPr>
            <a:r>
              <a:rPr lang="en-US" sz="2000" dirty="0">
                <a:latin typeface="Times New Roman" pitchFamily="18" charset="0"/>
                <a:cs typeface="Times New Roman" pitchFamily="18" charset="0"/>
              </a:rPr>
              <a:t>A biometric scanner.</a:t>
            </a:r>
          </a:p>
          <a:p>
            <a:pPr marL="342900" indent="-342900" algn="just">
              <a:buFont typeface="Arial" pitchFamily="34" charset="0"/>
              <a:buChar char="•"/>
            </a:pPr>
            <a:r>
              <a:rPr lang="en-US" sz="2000" b="1" dirty="0">
                <a:latin typeface="Times New Roman" pitchFamily="18" charset="0"/>
                <a:cs typeface="Times New Roman" pitchFamily="18" charset="0"/>
              </a:rPr>
              <a:t>Use: </a:t>
            </a:r>
            <a:r>
              <a:rPr lang="en-US" sz="2000" dirty="0">
                <a:latin typeface="Times New Roman" pitchFamily="18" charset="0"/>
                <a:cs typeface="Times New Roman" pitchFamily="18" charset="0"/>
              </a:rPr>
              <a:t>Verifies the identity of the driver through their fingerprint. </a:t>
            </a:r>
          </a:p>
          <a:p>
            <a:pPr marL="342900" indent="-342900" algn="just">
              <a:buFont typeface="Arial" pitchFamily="34" charset="0"/>
              <a:buChar char="•"/>
            </a:pPr>
            <a:r>
              <a:rPr lang="en-US" sz="2000" dirty="0">
                <a:latin typeface="Times New Roman" pitchFamily="18" charset="0"/>
                <a:cs typeface="Times New Roman" pitchFamily="18" charset="0"/>
              </a:rPr>
              <a:t>Adds a second layer of authentication  </a:t>
            </a:r>
          </a:p>
          <a:p>
            <a:pPr algn="just"/>
            <a:r>
              <a:rPr lang="en-US" sz="2000" dirty="0">
                <a:latin typeface="Times New Roman" pitchFamily="18" charset="0"/>
                <a:cs typeface="Times New Roman" pitchFamily="18" charset="0"/>
              </a:rPr>
              <a:t>     before ignition.</a:t>
            </a:r>
          </a:p>
        </p:txBody>
      </p:sp>
      <p:pic>
        <p:nvPicPr>
          <p:cNvPr id="4" name="Image 48"/>
          <p:cNvPicPr/>
          <p:nvPr/>
        </p:nvPicPr>
        <p:blipFill>
          <a:blip r:embed="rId2" cstate="print"/>
          <a:stretch>
            <a:fillRect/>
          </a:stretch>
        </p:blipFill>
        <p:spPr>
          <a:xfrm>
            <a:off x="6453190" y="587465"/>
            <a:ext cx="2278830" cy="1721324"/>
          </a:xfrm>
          <a:prstGeom prst="rect">
            <a:avLst/>
          </a:prstGeom>
        </p:spPr>
      </p:pic>
      <p:sp>
        <p:nvSpPr>
          <p:cNvPr id="5" name="Rectangle 4"/>
          <p:cNvSpPr/>
          <p:nvPr/>
        </p:nvSpPr>
        <p:spPr>
          <a:xfrm>
            <a:off x="724545" y="2362667"/>
            <a:ext cx="3724546" cy="400110"/>
          </a:xfrm>
          <a:prstGeom prst="rect">
            <a:avLst/>
          </a:prstGeom>
        </p:spPr>
        <p:txBody>
          <a:bodyPr wrap="none">
            <a:spAutoFit/>
          </a:bodyPr>
          <a:lstStyle/>
          <a:p>
            <a:r>
              <a:rPr lang="en-IN" sz="2000" b="1" dirty="0">
                <a:latin typeface="Times New Roman" pitchFamily="18" charset="0"/>
                <a:cs typeface="Times New Roman" pitchFamily="18" charset="0"/>
              </a:rPr>
              <a:t>7.Laptop with Built-in Webcam:</a:t>
            </a:r>
            <a:endParaRPr lang="en-US" sz="2000" dirty="0">
              <a:latin typeface="Times New Roman" pitchFamily="18" charset="0"/>
              <a:cs typeface="Times New Roman" pitchFamily="18" charset="0"/>
            </a:endParaRPr>
          </a:p>
        </p:txBody>
      </p:sp>
      <p:sp>
        <p:nvSpPr>
          <p:cNvPr id="6" name="Rectangle 5"/>
          <p:cNvSpPr/>
          <p:nvPr/>
        </p:nvSpPr>
        <p:spPr>
          <a:xfrm>
            <a:off x="-214307" y="2822538"/>
            <a:ext cx="6270550" cy="1323439"/>
          </a:xfrm>
          <a:prstGeom prst="rect">
            <a:avLst/>
          </a:prstGeom>
        </p:spPr>
        <p:txBody>
          <a:bodyPr wrap="square">
            <a:spAutoFit/>
          </a:bodyPr>
          <a:lstStyle/>
          <a:p>
            <a:pPr marL="1257300" lvl="2" indent="-342900" algn="just">
              <a:buFont typeface="Arial" pitchFamily="34" charset="0"/>
              <a:buChar char="•"/>
            </a:pPr>
            <a:r>
              <a:rPr lang="en-US" sz="2000" dirty="0">
                <a:latin typeface="Times New Roman" pitchFamily="18" charset="0"/>
                <a:cs typeface="Times New Roman" pitchFamily="18" charset="0"/>
              </a:rPr>
              <a:t>The webcam takes pictures of the driver.</a:t>
            </a:r>
          </a:p>
          <a:p>
            <a:pPr marL="1257300" lvl="2" indent="-342900" algn="just">
              <a:buFont typeface="Arial" pitchFamily="34" charset="0"/>
              <a:buChar char="•"/>
            </a:pPr>
            <a:r>
              <a:rPr lang="en-US" sz="2000" b="1" dirty="0">
                <a:latin typeface="Times New Roman" pitchFamily="18" charset="0"/>
                <a:cs typeface="Times New Roman" pitchFamily="18" charset="0"/>
              </a:rPr>
              <a:t>Use: </a:t>
            </a:r>
            <a:r>
              <a:rPr lang="en-US" sz="2000" dirty="0">
                <a:latin typeface="Times New Roman" pitchFamily="18" charset="0"/>
                <a:cs typeface="Times New Roman" pitchFamily="18" charset="0"/>
              </a:rPr>
              <a:t>It is used to check if the right person is trying to start the vehicle. It helps with face recognition or driver monitoring.</a:t>
            </a:r>
          </a:p>
        </p:txBody>
      </p:sp>
      <p:pic>
        <p:nvPicPr>
          <p:cNvPr id="307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5699"/>
          <a:stretch/>
        </p:blipFill>
        <p:spPr bwMode="auto">
          <a:xfrm>
            <a:off x="6519017" y="2960977"/>
            <a:ext cx="2355030" cy="1601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747556" y="4554544"/>
            <a:ext cx="5562600" cy="400110"/>
          </a:xfrm>
          <a:prstGeom prst="rect">
            <a:avLst/>
          </a:prstGeom>
        </p:spPr>
        <p:txBody>
          <a:bodyPr wrap="square">
            <a:spAutoFit/>
          </a:bodyPr>
          <a:lstStyle/>
          <a:p>
            <a:r>
              <a:rPr lang="en-IN" sz="2000" b="1" dirty="0">
                <a:latin typeface="Times New Roman" pitchFamily="18" charset="0"/>
                <a:cs typeface="Times New Roman" pitchFamily="18" charset="0"/>
              </a:rPr>
              <a:t>8.Tilt Sensor (MPU6050 Gyro/Accelerometer):</a:t>
            </a:r>
            <a:endParaRPr lang="en-US" sz="2000" dirty="0"/>
          </a:p>
        </p:txBody>
      </p:sp>
      <p:sp>
        <p:nvSpPr>
          <p:cNvPr id="8" name="Rectangle 7"/>
          <p:cNvSpPr/>
          <p:nvPr/>
        </p:nvSpPr>
        <p:spPr>
          <a:xfrm>
            <a:off x="747556" y="5057611"/>
            <a:ext cx="5105401" cy="1631216"/>
          </a:xfrm>
          <a:prstGeom prst="rect">
            <a:avLst/>
          </a:prstGeom>
        </p:spPr>
        <p:txBody>
          <a:bodyPr wrap="square">
            <a:spAutoFit/>
          </a:bodyPr>
          <a:lstStyle/>
          <a:p>
            <a:pPr marL="342900" indent="-342900" algn="just">
              <a:buFont typeface="Arial" pitchFamily="34" charset="0"/>
              <a:buChar char="•"/>
            </a:pPr>
            <a:r>
              <a:rPr lang="en-US" sz="2000" dirty="0">
                <a:latin typeface="Times New Roman" pitchFamily="18" charset="0"/>
                <a:cs typeface="Times New Roman" pitchFamily="18" charset="0"/>
              </a:rPr>
              <a:t>This sensor can feel movement, shaking, or tilting.</a:t>
            </a:r>
          </a:p>
          <a:p>
            <a:pPr marL="342900" indent="-342900" algn="just">
              <a:buFont typeface="Arial" pitchFamily="34" charset="0"/>
              <a:buChar char="•"/>
            </a:pPr>
            <a:r>
              <a:rPr lang="en-US" sz="2000" b="1" dirty="0">
                <a:latin typeface="Times New Roman" pitchFamily="18" charset="0"/>
                <a:cs typeface="Times New Roman" pitchFamily="18" charset="0"/>
              </a:rPr>
              <a:t>Use: </a:t>
            </a:r>
            <a:r>
              <a:rPr lang="en-US" sz="2000" dirty="0">
                <a:latin typeface="Times New Roman" pitchFamily="18" charset="0"/>
                <a:cs typeface="Times New Roman" pitchFamily="18" charset="0"/>
              </a:rPr>
              <a:t>It helps detect accidents or if someone is trying to move the vehicle. It can be used to send alerts or stop the ignition.</a:t>
            </a:r>
          </a:p>
        </p:txBody>
      </p:sp>
      <p:pic>
        <p:nvPicPr>
          <p:cNvPr id="11" name="Picture 10" descr="uxcell Angle Sensor Module SW-520D ..."/>
          <p:cNvPicPr/>
          <p:nvPr/>
        </p:nvPicPr>
        <p:blipFill>
          <a:blip r:embed="rId4">
            <a:extLst>
              <a:ext uri="{28A0092B-C50C-407E-A947-70E740481C1C}">
                <a14:useLocalDpi xmlns:a14="http://schemas.microsoft.com/office/drawing/2010/main" val="0"/>
              </a:ext>
            </a:extLst>
          </a:blip>
          <a:srcRect/>
          <a:stretch>
            <a:fillRect/>
          </a:stretch>
        </p:blipFill>
        <p:spPr bwMode="auto">
          <a:xfrm>
            <a:off x="6297337" y="4954654"/>
            <a:ext cx="2802255" cy="1625600"/>
          </a:xfrm>
          <a:prstGeom prst="rect">
            <a:avLst/>
          </a:prstGeom>
          <a:noFill/>
          <a:ln>
            <a:noFill/>
          </a:ln>
        </p:spPr>
      </p:pic>
    </p:spTree>
    <p:extLst>
      <p:ext uri="{BB962C8B-B14F-4D97-AF65-F5344CB8AC3E}">
        <p14:creationId xmlns:p14="http://schemas.microsoft.com/office/powerpoint/2010/main" val="1601455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4242059" cy="400110"/>
          </a:xfrm>
          <a:prstGeom prst="rect">
            <a:avLst/>
          </a:prstGeom>
        </p:spPr>
        <p:txBody>
          <a:bodyPr wrap="none">
            <a:spAutoFit/>
          </a:bodyPr>
          <a:lstStyle/>
          <a:p>
            <a:r>
              <a:rPr lang="en-IN" sz="2000" b="1" dirty="0">
                <a:latin typeface="Times New Roman" pitchFamily="18" charset="0"/>
                <a:cs typeface="Times New Roman" pitchFamily="18" charset="0"/>
              </a:rPr>
              <a:t>9.RFID Reader Module (MFRC522):</a:t>
            </a:r>
            <a:endParaRPr lang="en-US" sz="2000" dirty="0">
              <a:latin typeface="Times New Roman" pitchFamily="18" charset="0"/>
              <a:cs typeface="Times New Roman" pitchFamily="18" charset="0"/>
            </a:endParaRPr>
          </a:p>
        </p:txBody>
      </p:sp>
      <p:sp>
        <p:nvSpPr>
          <p:cNvPr id="3" name="Rectangle 2"/>
          <p:cNvSpPr/>
          <p:nvPr/>
        </p:nvSpPr>
        <p:spPr>
          <a:xfrm>
            <a:off x="685800" y="988601"/>
            <a:ext cx="5257800" cy="1323439"/>
          </a:xfrm>
          <a:prstGeom prst="rect">
            <a:avLst/>
          </a:prstGeom>
        </p:spPr>
        <p:txBody>
          <a:bodyPr wrap="square">
            <a:spAutoFit/>
          </a:bodyPr>
          <a:lstStyle/>
          <a:p>
            <a:pPr marL="342900" indent="-342900" algn="just">
              <a:buFont typeface="Arial" pitchFamily="34" charset="0"/>
              <a:buChar char="•"/>
            </a:pPr>
            <a:r>
              <a:rPr lang="en-US" sz="2000" dirty="0">
                <a:latin typeface="Times New Roman" pitchFamily="18" charset="0"/>
                <a:cs typeface="Times New Roman" pitchFamily="18" charset="0"/>
              </a:rPr>
              <a:t>This reads the RFID card or tag.</a:t>
            </a:r>
          </a:p>
          <a:p>
            <a:pPr marL="342900" indent="-342900" algn="just">
              <a:buFont typeface="Arial" pitchFamily="34" charset="0"/>
              <a:buChar char="•"/>
            </a:pPr>
            <a:r>
              <a:rPr lang="en-US" sz="2000" b="1" dirty="0">
                <a:latin typeface="Times New Roman" pitchFamily="18" charset="0"/>
                <a:cs typeface="Times New Roman" pitchFamily="18" charset="0"/>
              </a:rPr>
              <a:t>Use: </a:t>
            </a:r>
            <a:r>
              <a:rPr lang="en-US" sz="2000" dirty="0">
                <a:latin typeface="Times New Roman" pitchFamily="18" charset="0"/>
                <a:cs typeface="Times New Roman" pitchFamily="18" charset="0"/>
              </a:rPr>
              <a:t>It checks if the person has permission to start the vehicle. If the card is valid, the system allows the ignition.</a:t>
            </a:r>
          </a:p>
        </p:txBody>
      </p:sp>
      <p:sp>
        <p:nvSpPr>
          <p:cNvPr id="5" name="Rectangle 4"/>
          <p:cNvSpPr/>
          <p:nvPr/>
        </p:nvSpPr>
        <p:spPr>
          <a:xfrm>
            <a:off x="381000" y="2743200"/>
            <a:ext cx="1682577" cy="400110"/>
          </a:xfrm>
          <a:prstGeom prst="rect">
            <a:avLst/>
          </a:prstGeom>
        </p:spPr>
        <p:txBody>
          <a:bodyPr wrap="none">
            <a:spAutoFit/>
          </a:bodyPr>
          <a:lstStyle/>
          <a:p>
            <a:pPr lvl="0"/>
            <a:r>
              <a:rPr lang="en-US" sz="2000" b="1" dirty="0">
                <a:latin typeface="Times New Roman" pitchFamily="18" charset="0"/>
                <a:cs typeface="Times New Roman" pitchFamily="18" charset="0"/>
              </a:rPr>
              <a:t>10.RFID Tag:</a:t>
            </a:r>
            <a:endParaRPr lang="en-US" sz="2000" dirty="0">
              <a:latin typeface="Times New Roman" pitchFamily="18" charset="0"/>
              <a:cs typeface="Times New Roman" pitchFamily="18" charset="0"/>
            </a:endParaRPr>
          </a:p>
        </p:txBody>
      </p:sp>
      <p:sp>
        <p:nvSpPr>
          <p:cNvPr id="6" name="Rectangle 5"/>
          <p:cNvSpPr/>
          <p:nvPr/>
        </p:nvSpPr>
        <p:spPr>
          <a:xfrm>
            <a:off x="685800" y="3352799"/>
            <a:ext cx="5884473" cy="1015663"/>
          </a:xfrm>
          <a:prstGeom prst="rect">
            <a:avLst/>
          </a:prstGeom>
        </p:spPr>
        <p:txBody>
          <a:bodyPr wrap="square">
            <a:spAutoFit/>
          </a:bodyPr>
          <a:lstStyle/>
          <a:p>
            <a:pPr marL="342900" indent="-342900" algn="just">
              <a:buFont typeface="Arial" pitchFamily="34" charset="0"/>
              <a:buChar char="•"/>
            </a:pPr>
            <a:r>
              <a:rPr lang="en-US" sz="2000" dirty="0">
                <a:latin typeface="Times New Roman" pitchFamily="18" charset="0"/>
                <a:cs typeface="Times New Roman" pitchFamily="18" charset="0"/>
              </a:rPr>
              <a:t>This is a card or key with a unique ID.</a:t>
            </a:r>
          </a:p>
          <a:p>
            <a:pPr marL="342900" indent="-342900" algn="just">
              <a:buFont typeface="Arial" pitchFamily="34" charset="0"/>
              <a:buChar char="•"/>
            </a:pPr>
            <a:r>
              <a:rPr lang="en-US" sz="2000" b="1" dirty="0">
                <a:latin typeface="Times New Roman" pitchFamily="18" charset="0"/>
                <a:cs typeface="Times New Roman" pitchFamily="18" charset="0"/>
              </a:rPr>
              <a:t>Use: </a:t>
            </a:r>
            <a:r>
              <a:rPr lang="en-US" sz="2000" dirty="0">
                <a:latin typeface="Times New Roman" pitchFamily="18" charset="0"/>
                <a:cs typeface="Times New Roman" pitchFamily="18" charset="0"/>
              </a:rPr>
              <a:t>It works like a key for the vehicle.</a:t>
            </a:r>
          </a:p>
          <a:p>
            <a:pPr marL="342900" indent="-342900" algn="just">
              <a:buFont typeface="Arial" pitchFamily="34" charset="0"/>
              <a:buChar char="•"/>
            </a:pPr>
            <a:r>
              <a:rPr lang="en-US" sz="2000" dirty="0">
                <a:latin typeface="Times New Roman" pitchFamily="18" charset="0"/>
                <a:cs typeface="Times New Roman" pitchFamily="18" charset="0"/>
              </a:rPr>
              <a:t>Only registered tags can start the vehicle.</a:t>
            </a:r>
          </a:p>
        </p:txBody>
      </p:sp>
      <p:pic>
        <p:nvPicPr>
          <p:cNvPr id="7" name="Image 20"/>
          <p:cNvPicPr/>
          <p:nvPr/>
        </p:nvPicPr>
        <p:blipFill>
          <a:blip r:embed="rId3" cstate="print"/>
          <a:stretch>
            <a:fillRect/>
          </a:stretch>
        </p:blipFill>
        <p:spPr>
          <a:xfrm>
            <a:off x="5485460" y="3127107"/>
            <a:ext cx="1901825" cy="1255247"/>
          </a:xfrm>
          <a:prstGeom prst="rect">
            <a:avLst/>
          </a:prstGeom>
        </p:spPr>
      </p:pic>
      <p:pic>
        <p:nvPicPr>
          <p:cNvPr id="8" name="Image 21"/>
          <p:cNvPicPr/>
          <p:nvPr/>
        </p:nvPicPr>
        <p:blipFill>
          <a:blip r:embed="rId4" cstate="print"/>
          <a:stretch>
            <a:fillRect/>
          </a:stretch>
        </p:blipFill>
        <p:spPr>
          <a:xfrm rot="16200000">
            <a:off x="7548351" y="2782190"/>
            <a:ext cx="1430467" cy="1752598"/>
          </a:xfrm>
          <a:prstGeom prst="rect">
            <a:avLst/>
          </a:prstGeom>
        </p:spPr>
      </p:pic>
      <p:pic>
        <p:nvPicPr>
          <p:cNvPr id="1026" name="Picture 2" descr="Buy RFID Reader/Writer RC522 SPI S50 ...">
            <a:extLst>
              <a:ext uri="{FF2B5EF4-FFF2-40B4-BE49-F238E27FC236}">
                <a16:creationId xmlns:a16="http://schemas.microsoft.com/office/drawing/2014/main" id="{E740F053-0ED1-4DE9-A56D-E4E9706D93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67450" y="482466"/>
            <a:ext cx="2495550" cy="18383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08363" y="4690988"/>
            <a:ext cx="2168029" cy="400110"/>
          </a:xfrm>
          <a:prstGeom prst="rect">
            <a:avLst/>
          </a:prstGeom>
        </p:spPr>
        <p:txBody>
          <a:bodyPr wrap="none">
            <a:spAutoFit/>
          </a:bodyPr>
          <a:lstStyle/>
          <a:p>
            <a:r>
              <a:rPr lang="en-IN" sz="2000" b="1" dirty="0">
                <a:latin typeface="Times New Roman" pitchFamily="18" charset="0"/>
                <a:cs typeface="Times New Roman" pitchFamily="18" charset="0"/>
              </a:rPr>
              <a:t>11.Power Supply:</a:t>
            </a:r>
            <a:r>
              <a:rPr lang="en-IN" sz="2000" dirty="0">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p:sp>
        <p:nvSpPr>
          <p:cNvPr id="11" name="Rectangle 10"/>
          <p:cNvSpPr/>
          <p:nvPr/>
        </p:nvSpPr>
        <p:spPr>
          <a:xfrm>
            <a:off x="647690" y="5334000"/>
            <a:ext cx="8310074" cy="1323439"/>
          </a:xfrm>
          <a:prstGeom prst="rect">
            <a:avLst/>
          </a:prstGeom>
        </p:spPr>
        <p:txBody>
          <a:bodyPr wrap="square">
            <a:spAutoFit/>
          </a:bodyPr>
          <a:lstStyle/>
          <a:p>
            <a:pPr marL="342900" indent="-342900" algn="just">
              <a:buFont typeface="Arial" pitchFamily="34" charset="0"/>
              <a:buChar char="•"/>
            </a:pPr>
            <a:r>
              <a:rPr lang="en-IN" sz="2000" dirty="0">
                <a:latin typeface="Times New Roman" pitchFamily="18" charset="0"/>
                <a:cs typeface="Times New Roman" pitchFamily="18" charset="0"/>
              </a:rPr>
              <a:t>Appropriate power supply for ESP32, sensors, and DC motor (may require separate supplies or a robust single supply with voltage regulation).</a:t>
            </a:r>
            <a:endParaRPr lang="en-US" sz="2000" dirty="0">
              <a:latin typeface="Times New Roman" pitchFamily="18" charset="0"/>
              <a:cs typeface="Times New Roman" pitchFamily="18" charset="0"/>
            </a:endParaRPr>
          </a:p>
          <a:p>
            <a:pPr algn="just"/>
            <a:r>
              <a:rPr lang="en-IN" sz="2000" dirty="0">
                <a:latin typeface="Times New Roman" pitchFamily="18" charset="0"/>
                <a:cs typeface="Times New Roman" pitchFamily="18" charset="0"/>
              </a:rPr>
              <a:t> </a:t>
            </a:r>
            <a:endParaRPr lang="en-US" sz="2000" dirty="0">
              <a:latin typeface="Times New Roman" pitchFamily="18" charset="0"/>
              <a:cs typeface="Times New Roman" pitchFamily="18" charset="0"/>
            </a:endParaRPr>
          </a:p>
          <a:p>
            <a:pPr algn="just"/>
            <a:r>
              <a:rPr lang="en-IN" sz="2000" dirty="0">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847572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0200" y="609600"/>
            <a:ext cx="5602239" cy="584775"/>
          </a:xfrm>
          <a:prstGeom prst="rect">
            <a:avLst/>
          </a:prstGeom>
        </p:spPr>
        <p:txBody>
          <a:bodyPr wrap="none">
            <a:spAutoFit/>
          </a:bodyPr>
          <a:lstStyle/>
          <a:p>
            <a:pPr algn="ctr"/>
            <a:r>
              <a:rPr lang="en-US" sz="3200" b="1" dirty="0">
                <a:latin typeface="Times New Roman" pitchFamily="18" charset="0"/>
                <a:cs typeface="Times New Roman" pitchFamily="18" charset="0"/>
              </a:rPr>
              <a:t>SOFTWARE DESCRIPTION</a:t>
            </a:r>
          </a:p>
        </p:txBody>
      </p:sp>
      <p:sp>
        <p:nvSpPr>
          <p:cNvPr id="3" name="Rectangle 2"/>
          <p:cNvSpPr/>
          <p:nvPr/>
        </p:nvSpPr>
        <p:spPr>
          <a:xfrm>
            <a:off x="228600" y="1600200"/>
            <a:ext cx="2736647" cy="400110"/>
          </a:xfrm>
          <a:prstGeom prst="rect">
            <a:avLst/>
          </a:prstGeom>
        </p:spPr>
        <p:txBody>
          <a:bodyPr wrap="none">
            <a:spAutoFit/>
          </a:bodyPr>
          <a:lstStyle/>
          <a:p>
            <a:pPr lvl="1"/>
            <a:r>
              <a:rPr lang="en-US" sz="2000" b="1" dirty="0">
                <a:latin typeface="Times New Roman" pitchFamily="18" charset="0"/>
                <a:cs typeface="Times New Roman" pitchFamily="18" charset="0"/>
              </a:rPr>
              <a:t>1.ARDUINO IDE :</a:t>
            </a:r>
            <a:endParaRPr lang="en-US" sz="2000" dirty="0">
              <a:latin typeface="Times New Roman" pitchFamily="18" charset="0"/>
              <a:cs typeface="Times New Roman" pitchFamily="18" charset="0"/>
            </a:endParaRPr>
          </a:p>
        </p:txBody>
      </p:sp>
      <p:sp>
        <p:nvSpPr>
          <p:cNvPr id="4" name="Rectangle 3"/>
          <p:cNvSpPr/>
          <p:nvPr/>
        </p:nvSpPr>
        <p:spPr>
          <a:xfrm>
            <a:off x="685800" y="2000310"/>
            <a:ext cx="5791200" cy="2246769"/>
          </a:xfrm>
          <a:prstGeom prst="rect">
            <a:avLst/>
          </a:prstGeom>
          <a:ln>
            <a:solidFill>
              <a:schemeClr val="bg1"/>
            </a:solidFill>
          </a:ln>
        </p:spPr>
        <p:txBody>
          <a:bodyPr wrap="square">
            <a:spAutoFit/>
          </a:bodyPr>
          <a:lstStyle/>
          <a:p>
            <a:pPr marL="342900" indent="-342900" algn="just">
              <a:buFont typeface="Arial" pitchFamily="34" charset="0"/>
              <a:buChar char="•"/>
            </a:pPr>
            <a:r>
              <a:rPr lang="en-US" sz="2000" dirty="0">
                <a:latin typeface="Times New Roman" pitchFamily="18" charset="0"/>
                <a:cs typeface="Times New Roman" pitchFamily="18" charset="0"/>
              </a:rPr>
              <a:t>An open-source software used to write, compile, and upload code to ESP32 board. Supports programming in C/C++. </a:t>
            </a:r>
          </a:p>
          <a:p>
            <a:pPr marL="342900" indent="-342900" algn="just">
              <a:buFont typeface="Arial" pitchFamily="34" charset="0"/>
              <a:buChar char="•"/>
            </a:pPr>
            <a:r>
              <a:rPr lang="en-US" sz="2000" dirty="0">
                <a:latin typeface="Times New Roman" pitchFamily="18" charset="0"/>
                <a:cs typeface="Times New Roman" pitchFamily="18" charset="0"/>
              </a:rPr>
              <a:t>Used to write and upload the control logic (written in Embedded C) to the ESP32. It handles RFID scanning, fingerprint verification, sensor reading, and relay control.</a:t>
            </a:r>
          </a:p>
        </p:txBody>
      </p:sp>
      <p:pic>
        <p:nvPicPr>
          <p:cNvPr id="6" name="Picture 5"/>
          <p:cNvPicPr>
            <a:picLocks noChangeAspect="1" noChangeArrowheads="1"/>
          </p:cNvPicPr>
          <p:nvPr/>
        </p:nvPicPr>
        <p:blipFill rotWithShape="1">
          <a:blip r:embed="rId2" cstate="print"/>
          <a:srcRect l="9593" t="5231" r="6764" b="7940"/>
          <a:stretch/>
        </p:blipFill>
        <p:spPr bwMode="auto">
          <a:xfrm>
            <a:off x="7193892" y="2066849"/>
            <a:ext cx="1636761" cy="1666951"/>
          </a:xfrm>
          <a:prstGeom prst="rect">
            <a:avLst/>
          </a:prstGeom>
          <a:noFill/>
          <a:ln>
            <a:noFill/>
          </a:ln>
          <a:effectLst/>
        </p:spPr>
      </p:pic>
      <p:sp>
        <p:nvSpPr>
          <p:cNvPr id="7" name="Rectangle 6"/>
          <p:cNvSpPr/>
          <p:nvPr/>
        </p:nvSpPr>
        <p:spPr>
          <a:xfrm>
            <a:off x="699331" y="4446223"/>
            <a:ext cx="2326278" cy="400110"/>
          </a:xfrm>
          <a:prstGeom prst="rect">
            <a:avLst/>
          </a:prstGeom>
        </p:spPr>
        <p:txBody>
          <a:bodyPr wrap="none">
            <a:spAutoFit/>
          </a:bodyPr>
          <a:lstStyle/>
          <a:p>
            <a:r>
              <a:rPr lang="en-US" sz="2000" b="1" dirty="0">
                <a:latin typeface="Times New Roman" pitchFamily="18" charset="0"/>
                <a:cs typeface="Times New Roman" pitchFamily="18" charset="0"/>
              </a:rPr>
              <a:t>2. EMBEDDED C :</a:t>
            </a:r>
          </a:p>
        </p:txBody>
      </p:sp>
      <p:sp>
        <p:nvSpPr>
          <p:cNvPr id="8" name="Rectangle 7"/>
          <p:cNvSpPr/>
          <p:nvPr/>
        </p:nvSpPr>
        <p:spPr>
          <a:xfrm>
            <a:off x="699331" y="4953000"/>
            <a:ext cx="7840053" cy="1631216"/>
          </a:xfrm>
          <a:prstGeom prst="rect">
            <a:avLst/>
          </a:prstGeom>
        </p:spPr>
        <p:txBody>
          <a:bodyPr wrap="square">
            <a:spAutoFit/>
          </a:bodyPr>
          <a:lstStyle/>
          <a:p>
            <a:pPr marL="342900" indent="-342900" algn="just">
              <a:buFont typeface="Arial" pitchFamily="34" charset="0"/>
              <a:buChar char="•"/>
            </a:pPr>
            <a:r>
              <a:rPr lang="en-US" sz="2000" dirty="0">
                <a:latin typeface="Times New Roman" pitchFamily="18" charset="0"/>
                <a:cs typeface="Times New Roman" pitchFamily="18" charset="0"/>
              </a:rPr>
              <a:t>A programming language used to program microcontrollers. It’s a variant of C designed for hardware-level access.</a:t>
            </a:r>
          </a:p>
          <a:p>
            <a:pPr marL="342900" indent="-342900" algn="just">
              <a:buFont typeface="Arial" pitchFamily="34" charset="0"/>
              <a:buChar char="•"/>
            </a:pPr>
            <a:r>
              <a:rPr lang="en-US" sz="2000" dirty="0">
                <a:latin typeface="Times New Roman" pitchFamily="18" charset="0"/>
                <a:cs typeface="Times New Roman" pitchFamily="18" charset="0"/>
              </a:rPr>
              <a:t>Core logic (like reading sensor values, comparing RFID IDs, matching fingerprints, and controlling the relay) is written in Embedded C and compiled/uploaded via </a:t>
            </a:r>
            <a:r>
              <a:rPr lang="en-US" sz="2000" dirty="0" err="1">
                <a:latin typeface="Times New Roman" pitchFamily="18" charset="0"/>
                <a:cs typeface="Times New Roman" pitchFamily="18" charset="0"/>
              </a:rPr>
              <a:t>Arduino</a:t>
            </a:r>
            <a:r>
              <a:rPr lang="en-US" sz="2000" dirty="0">
                <a:latin typeface="Times New Roman" pitchFamily="18" charset="0"/>
                <a:cs typeface="Times New Roman" pitchFamily="18" charset="0"/>
              </a:rPr>
              <a:t> IDE.</a:t>
            </a:r>
          </a:p>
        </p:txBody>
      </p:sp>
    </p:spTree>
    <p:extLst>
      <p:ext uri="{BB962C8B-B14F-4D97-AF65-F5344CB8AC3E}">
        <p14:creationId xmlns:p14="http://schemas.microsoft.com/office/powerpoint/2010/main" val="1946520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64022" y="3758725"/>
            <a:ext cx="1624163" cy="400110"/>
          </a:xfrm>
          <a:prstGeom prst="rect">
            <a:avLst/>
          </a:prstGeom>
        </p:spPr>
        <p:txBody>
          <a:bodyPr wrap="none">
            <a:spAutoFit/>
          </a:bodyPr>
          <a:lstStyle/>
          <a:p>
            <a:r>
              <a:rPr lang="en-US" sz="2000" b="1" dirty="0">
                <a:latin typeface="Times New Roman" pitchFamily="18" charset="0"/>
                <a:cs typeface="Times New Roman" pitchFamily="18" charset="0"/>
              </a:rPr>
              <a:t>4.PYTHON :</a:t>
            </a:r>
          </a:p>
        </p:txBody>
      </p:sp>
      <p:sp>
        <p:nvSpPr>
          <p:cNvPr id="5" name="Rectangle 4"/>
          <p:cNvSpPr/>
          <p:nvPr/>
        </p:nvSpPr>
        <p:spPr>
          <a:xfrm>
            <a:off x="564022" y="4495800"/>
            <a:ext cx="7543800" cy="1938992"/>
          </a:xfrm>
          <a:prstGeom prst="rect">
            <a:avLst/>
          </a:prstGeom>
        </p:spPr>
        <p:txBody>
          <a:bodyPr wrap="square">
            <a:spAutoFit/>
          </a:bodyPr>
          <a:lstStyle/>
          <a:p>
            <a:pPr marL="342900" indent="-342900" algn="just">
              <a:buFont typeface="Arial" pitchFamily="34" charset="0"/>
              <a:buChar char="•"/>
            </a:pPr>
            <a:r>
              <a:rPr lang="en-US" sz="2000" dirty="0">
                <a:latin typeface="Times New Roman" pitchFamily="18" charset="0"/>
                <a:cs typeface="Times New Roman" pitchFamily="18" charset="0"/>
              </a:rPr>
              <a:t>A high-level, general-purpose programming language, known for its readability and wide library support.</a:t>
            </a:r>
          </a:p>
          <a:p>
            <a:pPr marL="342900" indent="-342900" algn="just">
              <a:buFont typeface="Arial" pitchFamily="34" charset="0"/>
              <a:buChar char="•"/>
            </a:pPr>
            <a:r>
              <a:rPr lang="en-US" sz="2000" dirty="0">
                <a:latin typeface="Times New Roman" pitchFamily="18" charset="0"/>
                <a:cs typeface="Times New Roman" pitchFamily="18" charset="0"/>
              </a:rPr>
              <a:t>Python can be used for external monitoring, data logging, or running machine learning algorithms (e.g., for behavior analysis). It can also interface with the fingerprint module or camera systems on a PC or Raspberry Pi.</a:t>
            </a:r>
          </a:p>
        </p:txBody>
      </p:sp>
      <p:sp>
        <p:nvSpPr>
          <p:cNvPr id="6" name="Rectangle 5"/>
          <p:cNvSpPr/>
          <p:nvPr/>
        </p:nvSpPr>
        <p:spPr>
          <a:xfrm>
            <a:off x="533400" y="609600"/>
            <a:ext cx="4572000" cy="2862322"/>
          </a:xfrm>
          <a:prstGeom prst="rect">
            <a:avLst/>
          </a:prstGeom>
        </p:spPr>
        <p:txBody>
          <a:bodyPr>
            <a:spAutoFit/>
          </a:bodyPr>
          <a:lstStyle/>
          <a:p>
            <a:pPr algn="just"/>
            <a:r>
              <a:rPr lang="en-IN" sz="2000" b="1" dirty="0">
                <a:latin typeface="Times New Roman" pitchFamily="18" charset="0"/>
                <a:cs typeface="Times New Roman" pitchFamily="18" charset="0"/>
              </a:rPr>
              <a:t>3.BLYNK PLATFORM:</a:t>
            </a:r>
          </a:p>
          <a:p>
            <a:pPr algn="just"/>
            <a:endParaRPr lang="en-US" sz="2000" dirty="0">
              <a:latin typeface="Times New Roman" pitchFamily="18" charset="0"/>
              <a:cs typeface="Times New Roman" pitchFamily="18" charset="0"/>
            </a:endParaRPr>
          </a:p>
          <a:p>
            <a:pPr marL="342900" indent="-342900" algn="just">
              <a:buFont typeface="Arial" pitchFamily="34" charset="0"/>
              <a:buChar char="•"/>
            </a:pPr>
            <a:r>
              <a:rPr lang="en-IN" sz="2000" dirty="0">
                <a:latin typeface="Times New Roman" pitchFamily="18" charset="0"/>
                <a:cs typeface="Times New Roman" pitchFamily="18" charset="0"/>
              </a:rPr>
              <a:t>An </a:t>
            </a:r>
            <a:r>
              <a:rPr lang="en-IN" sz="2000" dirty="0" err="1">
                <a:latin typeface="Times New Roman" pitchFamily="18" charset="0"/>
                <a:cs typeface="Times New Roman" pitchFamily="18" charset="0"/>
              </a:rPr>
              <a:t>IoT</a:t>
            </a:r>
            <a:r>
              <a:rPr lang="en-IN" sz="2000" dirty="0">
                <a:latin typeface="Times New Roman" pitchFamily="18" charset="0"/>
                <a:cs typeface="Times New Roman" pitchFamily="18" charset="0"/>
              </a:rPr>
              <a:t> platform used for creating a mobile application (dashboard) for remote monitoring and control.</a:t>
            </a:r>
            <a:endParaRPr lang="en-US" sz="2000" dirty="0">
              <a:latin typeface="Times New Roman" pitchFamily="18" charset="0"/>
              <a:cs typeface="Times New Roman" pitchFamily="18" charset="0"/>
            </a:endParaRPr>
          </a:p>
          <a:p>
            <a:pPr marL="342900" indent="-342900" algn="just">
              <a:buFont typeface="Arial" pitchFamily="34" charset="0"/>
              <a:buChar char="•"/>
            </a:pPr>
            <a:r>
              <a:rPr lang="en-IN" sz="2000" b="1" dirty="0" err="1">
                <a:latin typeface="Times New Roman" pitchFamily="18" charset="0"/>
                <a:cs typeface="Times New Roman" pitchFamily="18" charset="0"/>
              </a:rPr>
              <a:t>Blynk</a:t>
            </a:r>
            <a:r>
              <a:rPr lang="en-IN" sz="2000" b="1" dirty="0">
                <a:latin typeface="Times New Roman" pitchFamily="18" charset="0"/>
                <a:cs typeface="Times New Roman" pitchFamily="18" charset="0"/>
              </a:rPr>
              <a:t> App (</a:t>
            </a:r>
            <a:r>
              <a:rPr lang="en-IN" sz="2000" b="1" dirty="0" err="1">
                <a:latin typeface="Times New Roman" pitchFamily="18" charset="0"/>
                <a:cs typeface="Times New Roman" pitchFamily="18" charset="0"/>
              </a:rPr>
              <a:t>iOS</a:t>
            </a:r>
            <a:r>
              <a:rPr lang="en-IN" sz="2000" b="1" dirty="0">
                <a:latin typeface="Times New Roman" pitchFamily="18" charset="0"/>
                <a:cs typeface="Times New Roman" pitchFamily="18" charset="0"/>
              </a:rPr>
              <a:t>/Android):</a:t>
            </a:r>
            <a:r>
              <a:rPr lang="en-IN" sz="2000" dirty="0">
                <a:latin typeface="Times New Roman" pitchFamily="18" charset="0"/>
                <a:cs typeface="Times New Roman" pitchFamily="18" charset="0"/>
              </a:rPr>
              <a:t> User interface on the smartphone with widgets like buttons, displays, notifications.</a:t>
            </a:r>
            <a:endParaRPr lang="en-US" sz="2000" dirty="0">
              <a:latin typeface="Times New Roman" pitchFamily="18" charset="0"/>
              <a:cs typeface="Times New Roman" pitchFamily="18" charset="0"/>
            </a:endParaRPr>
          </a:p>
        </p:txBody>
      </p:sp>
      <p:pic>
        <p:nvPicPr>
          <p:cNvPr id="7" name="Picture 2"/>
          <p:cNvPicPr>
            <a:picLocks noChangeAspect="1" noChangeArrowheads="1"/>
          </p:cNvPicPr>
          <p:nvPr/>
        </p:nvPicPr>
        <p:blipFill rotWithShape="1">
          <a:blip r:embed="rId2"/>
          <a:srcRect l="12204" t="20457" r="15535" b="33420"/>
          <a:stretch>
            <a:fillRect/>
          </a:stretch>
        </p:blipFill>
        <p:spPr bwMode="auto">
          <a:xfrm>
            <a:off x="5257800" y="1025961"/>
            <a:ext cx="3581400" cy="1752600"/>
          </a:xfrm>
          <a:prstGeom prst="rect">
            <a:avLst/>
          </a:prstGeom>
          <a:noFill/>
          <a:ln>
            <a:noFill/>
          </a:ln>
          <a:effectLst/>
        </p:spPr>
      </p:pic>
    </p:spTree>
    <p:extLst>
      <p:ext uri="{BB962C8B-B14F-4D97-AF65-F5344CB8AC3E}">
        <p14:creationId xmlns:p14="http://schemas.microsoft.com/office/powerpoint/2010/main" val="2587113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685800"/>
            <a:ext cx="1670842" cy="400110"/>
          </a:xfrm>
          <a:prstGeom prst="rect">
            <a:avLst/>
          </a:prstGeom>
        </p:spPr>
        <p:txBody>
          <a:bodyPr wrap="none">
            <a:spAutoFit/>
          </a:bodyPr>
          <a:lstStyle/>
          <a:p>
            <a:r>
              <a:rPr lang="en-US" sz="2000" b="1" dirty="0">
                <a:latin typeface="Times New Roman" pitchFamily="18" charset="0"/>
                <a:cs typeface="Times New Roman" pitchFamily="18" charset="0"/>
              </a:rPr>
              <a:t>4.OPEN CV :</a:t>
            </a:r>
          </a:p>
        </p:txBody>
      </p:sp>
      <p:pic>
        <p:nvPicPr>
          <p:cNvPr id="6" name="Image 68"/>
          <p:cNvPicPr/>
          <p:nvPr/>
        </p:nvPicPr>
        <p:blipFill>
          <a:blip r:embed="rId2" cstate="print"/>
          <a:stretch>
            <a:fillRect/>
          </a:stretch>
        </p:blipFill>
        <p:spPr>
          <a:xfrm>
            <a:off x="6400799" y="995293"/>
            <a:ext cx="2438401" cy="2205990"/>
          </a:xfrm>
          <a:prstGeom prst="rect">
            <a:avLst/>
          </a:prstGeom>
        </p:spPr>
      </p:pic>
      <p:sp>
        <p:nvSpPr>
          <p:cNvPr id="7" name="Rectangle 6"/>
          <p:cNvSpPr/>
          <p:nvPr/>
        </p:nvSpPr>
        <p:spPr>
          <a:xfrm>
            <a:off x="453018" y="1223397"/>
            <a:ext cx="5490581" cy="1938992"/>
          </a:xfrm>
          <a:prstGeom prst="rect">
            <a:avLst/>
          </a:prstGeom>
        </p:spPr>
        <p:txBody>
          <a:bodyPr wrap="square">
            <a:spAutoFit/>
          </a:bodyPr>
          <a:lstStyle/>
          <a:p>
            <a:pPr marL="342900" indent="-342900" algn="just">
              <a:buFont typeface="Arial" pitchFamily="34" charset="0"/>
              <a:buChar char="•"/>
            </a:pPr>
            <a:r>
              <a:rPr lang="en-US" sz="2000" dirty="0">
                <a:latin typeface="Times New Roman" pitchFamily="18" charset="0"/>
                <a:cs typeface="Times New Roman" pitchFamily="18" charset="0"/>
              </a:rPr>
              <a:t>An open-source computer vision library used for real-time image and video processing.</a:t>
            </a:r>
          </a:p>
          <a:p>
            <a:pPr marL="342900" indent="-342900" algn="just">
              <a:buFont typeface="Arial" pitchFamily="34" charset="0"/>
              <a:buChar char="•"/>
            </a:pPr>
            <a:r>
              <a:rPr lang="en-US" sz="2000" dirty="0">
                <a:latin typeface="Times New Roman" pitchFamily="18" charset="0"/>
                <a:cs typeface="Times New Roman" pitchFamily="18" charset="0"/>
              </a:rPr>
              <a:t>If the system include facial recognition, OpenCV (used with Python or C++) can process camera inputs to verify driver identity or alert unsafe conditions.</a:t>
            </a:r>
          </a:p>
        </p:txBody>
      </p:sp>
      <p:sp>
        <p:nvSpPr>
          <p:cNvPr id="2" name="Rectangle 1"/>
          <p:cNvSpPr/>
          <p:nvPr/>
        </p:nvSpPr>
        <p:spPr>
          <a:xfrm>
            <a:off x="533400" y="3446094"/>
            <a:ext cx="8005182" cy="707886"/>
          </a:xfrm>
          <a:prstGeom prst="rect">
            <a:avLst/>
          </a:prstGeom>
        </p:spPr>
        <p:txBody>
          <a:bodyPr wrap="square">
            <a:spAutoFit/>
          </a:bodyPr>
          <a:lstStyle/>
          <a:p>
            <a:r>
              <a:rPr lang="en-IN" sz="2000" b="1" dirty="0">
                <a:latin typeface="Times New Roman" pitchFamily="18" charset="0"/>
                <a:cs typeface="Times New Roman" pitchFamily="18" charset="0"/>
              </a:rPr>
              <a:t>5. FACE DETECTION ALGORITHM (HAAR CASCADES - PYTHON, OPENCV):</a:t>
            </a:r>
            <a:endParaRPr lang="en-US" sz="2000" dirty="0">
              <a:latin typeface="Times New Roman" pitchFamily="18" charset="0"/>
              <a:cs typeface="Times New Roman" pitchFamily="18" charset="0"/>
            </a:endParaRPr>
          </a:p>
        </p:txBody>
      </p:sp>
      <p:sp>
        <p:nvSpPr>
          <p:cNvPr id="3" name="Rectangle 2"/>
          <p:cNvSpPr/>
          <p:nvPr/>
        </p:nvSpPr>
        <p:spPr>
          <a:xfrm>
            <a:off x="533400" y="5122970"/>
            <a:ext cx="8726992" cy="707886"/>
          </a:xfrm>
          <a:prstGeom prst="rect">
            <a:avLst/>
          </a:prstGeom>
        </p:spPr>
        <p:txBody>
          <a:bodyPr wrap="square">
            <a:spAutoFit/>
          </a:bodyPr>
          <a:lstStyle/>
          <a:p>
            <a:r>
              <a:rPr lang="en-IN" sz="2000" b="1" dirty="0">
                <a:latin typeface="Times New Roman" pitchFamily="18" charset="0"/>
                <a:cs typeface="Times New Roman" pitchFamily="18" charset="0"/>
              </a:rPr>
              <a:t>6. FACE RECOGNITION ALGORITHM (LBPH - LOCAL BINARY PATTERNS HISTOGRAMS – </a:t>
            </a:r>
            <a:r>
              <a:rPr lang="en-IN" sz="2000" b="1" i="1" dirty="0">
                <a:latin typeface="Times New Roman" pitchFamily="18" charset="0"/>
                <a:cs typeface="Times New Roman" pitchFamily="18" charset="0"/>
              </a:rPr>
              <a:t>PYTHON</a:t>
            </a:r>
            <a:r>
              <a:rPr lang="en-IN" sz="2000" b="1" dirty="0">
                <a:latin typeface="Times New Roman" pitchFamily="18" charset="0"/>
                <a:cs typeface="Times New Roman" pitchFamily="18" charset="0"/>
              </a:rPr>
              <a:t>, OPENCV):</a:t>
            </a:r>
            <a:endParaRPr lang="en-US" sz="2000" dirty="0">
              <a:latin typeface="Times New Roman" pitchFamily="18" charset="0"/>
              <a:cs typeface="Times New Roman" pitchFamily="18" charset="0"/>
            </a:endParaRPr>
          </a:p>
        </p:txBody>
      </p:sp>
      <p:sp>
        <p:nvSpPr>
          <p:cNvPr id="5" name="Rectangle 4"/>
          <p:cNvSpPr/>
          <p:nvPr/>
        </p:nvSpPr>
        <p:spPr>
          <a:xfrm>
            <a:off x="533400" y="4252957"/>
            <a:ext cx="8305800" cy="707886"/>
          </a:xfrm>
          <a:prstGeom prst="rect">
            <a:avLst/>
          </a:prstGeom>
        </p:spPr>
        <p:txBody>
          <a:bodyPr wrap="square">
            <a:spAutoFit/>
          </a:bodyPr>
          <a:lstStyle/>
          <a:p>
            <a:pPr marL="342900" indent="-342900" algn="just">
              <a:buFont typeface="Arial" pitchFamily="34" charset="0"/>
              <a:buChar char="•"/>
            </a:pPr>
            <a:r>
              <a:rPr lang="en-US" sz="2000" dirty="0">
                <a:latin typeface="Times New Roman" pitchFamily="18" charset="0"/>
                <a:cs typeface="Times New Roman" pitchFamily="18" charset="0"/>
              </a:rPr>
              <a:t>Detects the presence and location of a face in front of the camera using predefined facial features like eyes and nose.</a:t>
            </a:r>
          </a:p>
        </p:txBody>
      </p:sp>
      <p:sp>
        <p:nvSpPr>
          <p:cNvPr id="8" name="Rectangle 7"/>
          <p:cNvSpPr/>
          <p:nvPr/>
        </p:nvSpPr>
        <p:spPr>
          <a:xfrm>
            <a:off x="431162" y="5970671"/>
            <a:ext cx="8265609" cy="707886"/>
          </a:xfrm>
          <a:prstGeom prst="rect">
            <a:avLst/>
          </a:prstGeom>
        </p:spPr>
        <p:txBody>
          <a:bodyPr wrap="square">
            <a:spAutoFit/>
          </a:bodyPr>
          <a:lstStyle/>
          <a:p>
            <a:pPr marL="342900" indent="-342900" algn="just">
              <a:buFont typeface="Arial" pitchFamily="34" charset="0"/>
              <a:buChar char="•"/>
            </a:pPr>
            <a:r>
              <a:rPr lang="en-US" sz="2000" dirty="0">
                <a:latin typeface="Times New Roman" pitchFamily="18" charset="0"/>
                <a:cs typeface="Times New Roman" pitchFamily="18" charset="0"/>
              </a:rPr>
              <a:t>Identifies if the detected face matches a stored authorized user by analyzing facial patterns.</a:t>
            </a:r>
          </a:p>
        </p:txBody>
      </p:sp>
    </p:spTree>
    <p:extLst>
      <p:ext uri="{BB962C8B-B14F-4D97-AF65-F5344CB8AC3E}">
        <p14:creationId xmlns:p14="http://schemas.microsoft.com/office/powerpoint/2010/main" val="9508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94751" y="381000"/>
            <a:ext cx="1788375" cy="523220"/>
          </a:xfrm>
          <a:prstGeom prst="rect">
            <a:avLst/>
          </a:prstGeom>
        </p:spPr>
        <p:txBody>
          <a:bodyPr wrap="none">
            <a:spAutoFit/>
          </a:bodyPr>
          <a:lstStyle/>
          <a:p>
            <a:pPr algn="ctr"/>
            <a:r>
              <a:rPr lang="en-US" sz="2800" b="1" dirty="0">
                <a:latin typeface="Times New Roman" pitchFamily="18" charset="0"/>
                <a:cs typeface="Times New Roman" pitchFamily="18" charset="0"/>
              </a:rPr>
              <a:t>RESULTS</a:t>
            </a:r>
            <a:endParaRPr lang="en-US" sz="2800" dirty="0"/>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3625851" y="-1035052"/>
            <a:ext cx="2273299" cy="6629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457200" y="3810000"/>
            <a:ext cx="8534400" cy="2554545"/>
          </a:xfrm>
          <a:prstGeom prst="rect">
            <a:avLst/>
          </a:prstGeom>
        </p:spPr>
        <p:txBody>
          <a:bodyPr wrap="square">
            <a:spAutoFit/>
          </a:bodyPr>
          <a:lstStyle/>
          <a:p>
            <a:pPr marL="342900" indent="-342900" algn="just">
              <a:buFont typeface="Arial" pitchFamily="34" charset="0"/>
              <a:buChar char="•"/>
            </a:pPr>
            <a:r>
              <a:rPr lang="en-US" sz="2000" dirty="0">
                <a:latin typeface="Times New Roman" pitchFamily="18" charset="0"/>
                <a:cs typeface="Times New Roman" pitchFamily="18" charset="0"/>
              </a:rPr>
              <a:t>The smart vehicle ignition system successfully authenticates users using RFID, face recognition, and fingerprint verification.</a:t>
            </a:r>
          </a:p>
          <a:p>
            <a:pPr marL="342900" indent="-342900" algn="just">
              <a:buFont typeface="Arial" pitchFamily="34" charset="0"/>
              <a:buChar char="•"/>
            </a:pPr>
            <a:r>
              <a:rPr lang="en-US" sz="2000" dirty="0">
                <a:latin typeface="Times New Roman" pitchFamily="18" charset="0"/>
                <a:cs typeface="Times New Roman" pitchFamily="18" charset="0"/>
              </a:rPr>
              <a:t>The vehicle only starts when all three authentication steps are passed.</a:t>
            </a:r>
          </a:p>
          <a:p>
            <a:pPr marL="342900" indent="-342900" algn="just">
              <a:buFont typeface="Arial" pitchFamily="34" charset="0"/>
              <a:buChar char="•"/>
            </a:pPr>
            <a:r>
              <a:rPr lang="en-US" sz="2000" dirty="0">
                <a:latin typeface="Times New Roman" pitchFamily="18" charset="0"/>
                <a:cs typeface="Times New Roman" pitchFamily="18" charset="0"/>
              </a:rPr>
              <a:t>After ignition, the alcohol sensor detects driver sobriety and stops the motor if alcohol is found.</a:t>
            </a:r>
          </a:p>
          <a:p>
            <a:pPr marL="342900" indent="-342900" algn="just">
              <a:buFont typeface="Arial" pitchFamily="34" charset="0"/>
              <a:buChar char="•"/>
            </a:pPr>
            <a:r>
              <a:rPr lang="en-US" sz="2000" dirty="0">
                <a:latin typeface="Times New Roman" pitchFamily="18" charset="0"/>
                <a:cs typeface="Times New Roman" pitchFamily="18" charset="0"/>
              </a:rPr>
              <a:t>The tilt sensor monitors vehicle position and alerts in case of abnormal tilt or rollover.</a:t>
            </a:r>
          </a:p>
          <a:p>
            <a:pPr marL="342900" indent="-342900" algn="just">
              <a:buFont typeface="Arial" pitchFamily="34" charset="0"/>
              <a:buChar char="•"/>
            </a:pPr>
            <a:r>
              <a:rPr lang="en-US" sz="2000" dirty="0">
                <a:latin typeface="Times New Roman" pitchFamily="18" charset="0"/>
                <a:cs typeface="Times New Roman" pitchFamily="18" charset="0"/>
              </a:rPr>
              <a:t>The system enhances both vehicle security and driver safety effectively.</a:t>
            </a:r>
          </a:p>
        </p:txBody>
      </p:sp>
    </p:spTree>
    <p:extLst>
      <p:ext uri="{BB962C8B-B14F-4D97-AF65-F5344CB8AC3E}">
        <p14:creationId xmlns:p14="http://schemas.microsoft.com/office/powerpoint/2010/main" val="1182863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1104899" y="419099"/>
            <a:ext cx="2286000" cy="2971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76800" y="762000"/>
            <a:ext cx="37338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2710" y="3962400"/>
            <a:ext cx="32004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6200000">
            <a:off x="5410200" y="3429000"/>
            <a:ext cx="25908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362200" y="152400"/>
            <a:ext cx="3713517" cy="369332"/>
          </a:xfrm>
          <a:prstGeom prst="rect">
            <a:avLst/>
          </a:prstGeom>
        </p:spPr>
        <p:txBody>
          <a:bodyPr wrap="none">
            <a:spAutoFit/>
          </a:bodyPr>
          <a:lstStyle/>
          <a:p>
            <a:r>
              <a:rPr lang="en-US" b="1" dirty="0">
                <a:latin typeface="Times New Roman" pitchFamily="18" charset="0"/>
                <a:cs typeface="Times New Roman" pitchFamily="18" charset="0"/>
              </a:rPr>
              <a:t>Fig : waiting for face authentication</a:t>
            </a:r>
            <a:endParaRPr lang="en-US" dirty="0">
              <a:latin typeface="Times New Roman" pitchFamily="18" charset="0"/>
              <a:cs typeface="Times New Roman" pitchFamily="18" charset="0"/>
            </a:endParaRPr>
          </a:p>
        </p:txBody>
      </p:sp>
      <p:sp>
        <p:nvSpPr>
          <p:cNvPr id="3" name="Rectangle 2"/>
          <p:cNvSpPr/>
          <p:nvPr/>
        </p:nvSpPr>
        <p:spPr>
          <a:xfrm>
            <a:off x="2286000" y="3260671"/>
            <a:ext cx="5943600" cy="369332"/>
          </a:xfrm>
          <a:prstGeom prst="rect">
            <a:avLst/>
          </a:prstGeom>
        </p:spPr>
        <p:txBody>
          <a:bodyPr wrap="square">
            <a:spAutoFit/>
          </a:bodyPr>
          <a:lstStyle/>
          <a:p>
            <a:r>
              <a:rPr lang="en-US" b="1" dirty="0">
                <a:latin typeface="Times New Roman" pitchFamily="18" charset="0"/>
                <a:cs typeface="Times New Roman" pitchFamily="18" charset="0"/>
              </a:rPr>
              <a:t>Fig : waiting for RFID &amp; Finger authentication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895839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5" name="Rectangle 1"/>
          <p:cNvSpPr/>
          <p:nvPr/>
        </p:nvSpPr>
        <p:spPr>
          <a:xfrm>
            <a:off x="2869362" y="304800"/>
            <a:ext cx="2871876" cy="523220"/>
          </a:xfrm>
          <a:prstGeom prst="rect">
            <a:avLst/>
          </a:prstGeom>
        </p:spPr>
        <p:txBody>
          <a:bodyPr wrap="none">
            <a:spAutoFit/>
          </a:bodyPr>
          <a:lstStyle/>
          <a:p>
            <a:pPr>
              <a:buClrTx/>
            </a:pPr>
            <a:r>
              <a:rPr lang="en-US" sz="2800" b="1" dirty="0">
                <a:latin typeface="Times New Roman"/>
                <a:cs typeface="Times New Roman"/>
              </a:rPr>
              <a:t>APPLICATIONS</a:t>
            </a:r>
          </a:p>
        </p:txBody>
      </p:sp>
      <p:sp>
        <p:nvSpPr>
          <p:cNvPr id="1048636" name="TextBox 2"/>
          <p:cNvSpPr txBox="1"/>
          <p:nvPr/>
        </p:nvSpPr>
        <p:spPr>
          <a:xfrm>
            <a:off x="304800" y="931629"/>
            <a:ext cx="8153400" cy="11243142"/>
          </a:xfrm>
          <a:prstGeom prst="rect">
            <a:avLst/>
          </a:prstGeom>
          <a:noFill/>
        </p:spPr>
        <p:txBody>
          <a:bodyPr wrap="square" rtlCol="0">
            <a:spAutoFit/>
          </a:bodyPr>
          <a:lstStyle/>
          <a:p>
            <a:pPr marL="342900" lvl="0" indent="-342900" algn="just">
              <a:lnSpc>
                <a:spcPct val="150000"/>
              </a:lnSpc>
              <a:spcAft>
                <a:spcPts val="1000"/>
              </a:spcAft>
              <a:buFont typeface="+mj-lt"/>
              <a:buAutoNum type="arabicPeriod"/>
              <a:tabLst>
                <a:tab pos="457200" algn="l"/>
              </a:tabLs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Personal Vehicles:</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Enhancing the security of private cars, motorcycles, and trucks against theft and unauthorized use. Provides peace of mind to owners with remote monitoring.</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tabLst>
                <a:tab pos="457200" algn="l"/>
              </a:tabLs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Commercial Fleet Management:</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For companies with a fleet of vehicles (e.g., delivery services, taxi companies), this system can ensure that only authorized drivers operate specific vehicles, track usage (via notifications), and potentially reduce insurance premiums by demonstrating enhanced security. The alcohol detection feature is particularly valuable for commercial driver safety.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tabLst>
                <a:tab pos="457200" algn="l"/>
              </a:tabLs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Rental Car Agencies:</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Can be adapted to ensure that only the registered renter can operate the vehicle and to monitor for misuse or potential accidents. RFID could be linked to rental agreements.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tabLst>
                <a:tab pos="457200" algn="l"/>
              </a:tabLs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Heavy Machinery and Equipment:</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Securing expensive construction or agricultural machinery that is often left on site and vulnerable to theft or unauthorized operation.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tabLst>
                <a:tab pos="457200" algn="l"/>
              </a:tabLs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Shared Mobility Services:</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Could be integrated into car-sharing or bike-sharing platforms to provide robust user authentication before vehicle use.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50000"/>
              </a:lnSpc>
              <a:buFont typeface="Wingdings" pitchFamily="2" charset="2"/>
              <a:buChar char="Ø"/>
            </a:pPr>
            <a:endParaRPr lang="en-US" sz="2000" dirty="0">
              <a:latin typeface="Times New Roman" pitchFamily="18" charset="0"/>
              <a:cs typeface="Times New Roman" pitchFamily="18" charset="0"/>
            </a:endParaRPr>
          </a:p>
          <a:p>
            <a:pPr marL="285750" lvl="0" indent="-285750">
              <a:lnSpc>
                <a:spcPct val="150000"/>
              </a:lnSpc>
              <a:buFont typeface="Wingdings" pitchFamily="2" charset="2"/>
              <a:buChar char="Ø"/>
            </a:pPr>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pPr marL="285750" lvl="0" indent="-285750">
              <a:lnSpc>
                <a:spcPct val="150000"/>
              </a:lnSpc>
              <a:buFont typeface="Wingdings" pitchFamily="2" charset="2"/>
              <a:buChar char="Ø"/>
            </a:pPr>
            <a:endParaRPr lang="en-US" dirty="0">
              <a:latin typeface="Times New Roman" pitchFamily="18" charset="0"/>
              <a:cs typeface="Times New Roman" pitchFamily="18" charset="0"/>
            </a:endParaRPr>
          </a:p>
          <a:p>
            <a:r>
              <a:rPr lang="en-US" dirty="0"/>
              <a:t> </a:t>
            </a:r>
          </a:p>
          <a:p>
            <a:pPr marL="285750" lvl="0" indent="-285750">
              <a:lnSpc>
                <a:spcPct val="150000"/>
              </a:lnSpc>
              <a:buFont typeface="Wingdings" pitchFamily="2" charset="2"/>
              <a:buChar char="Ø"/>
            </a:pPr>
            <a:endParaRPr lang="en-US" dirty="0">
              <a:latin typeface="Times New Roman" pitchFamily="18" charset="0"/>
              <a:cs typeface="Times New Roman" pitchFamily="18" charset="0"/>
            </a:endParaRPr>
          </a:p>
          <a:p>
            <a:pPr>
              <a:lnSpc>
                <a:spcPct val="150000"/>
              </a:lnSpc>
            </a:pPr>
            <a:endParaRPr lang="en-US" dirty="0">
              <a:latin typeface="Times New Roman" pitchFamily="18" charset="0"/>
              <a:cs typeface="Times New Roman" pitchFamily="18" charset="0"/>
            </a:endParaRPr>
          </a:p>
          <a:p>
            <a:pPr marL="285750" indent="-285750">
              <a:lnSpc>
                <a:spcPct val="150000"/>
              </a:lnSpc>
              <a:buFont typeface="Wingdings" pitchFamily="2" charset="2"/>
              <a:buChar char="Ø"/>
            </a:pPr>
            <a:endParaRPr lang="en-US" sz="2000" dirty="0">
              <a:latin typeface="Times New Roman" pitchFamily="18" charset="0"/>
              <a:cs typeface="Times New Roman" pitchFamily="18" charset="0"/>
            </a:endParaRPr>
          </a:p>
          <a:p>
            <a:pPr marL="285750" indent="-285750">
              <a:lnSpc>
                <a:spcPct val="150000"/>
              </a:lnSpc>
              <a:buFont typeface="Wingdings" pitchFamily="2" charset="2"/>
              <a:buChar char="Ø"/>
            </a:pPr>
            <a:endParaRPr lang="en-US" sz="2000"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499" y="228600"/>
            <a:ext cx="2975495" cy="584775"/>
          </a:xfrm>
          <a:prstGeom prst="rect">
            <a:avLst/>
          </a:prstGeom>
        </p:spPr>
        <p:txBody>
          <a:bodyPr wrap="none">
            <a:spAutoFit/>
          </a:bodyPr>
          <a:lstStyle/>
          <a:p>
            <a:r>
              <a:rPr lang="en-US" sz="3200" b="1" dirty="0">
                <a:latin typeface="Times New Roman" pitchFamily="18" charset="0"/>
                <a:cs typeface="Times New Roman" pitchFamily="18" charset="0"/>
              </a:rPr>
              <a:t>ADVANTAGES</a:t>
            </a:r>
          </a:p>
        </p:txBody>
      </p:sp>
      <p:sp>
        <p:nvSpPr>
          <p:cNvPr id="3" name="Rectangle 2"/>
          <p:cNvSpPr/>
          <p:nvPr/>
        </p:nvSpPr>
        <p:spPr>
          <a:xfrm>
            <a:off x="304800" y="813375"/>
            <a:ext cx="8534400" cy="6340197"/>
          </a:xfrm>
          <a:prstGeom prst="rect">
            <a:avLst/>
          </a:prstGeom>
        </p:spPr>
        <p:txBody>
          <a:bodyPr wrap="square">
            <a:spAutoFit/>
          </a:bodyPr>
          <a:lstStyle/>
          <a:p>
            <a:pPr marL="342900" lvl="0" indent="-342900" algn="just">
              <a:lnSpc>
                <a:spcPct val="150000"/>
              </a:lnSpc>
              <a:spcAft>
                <a:spcPts val="1000"/>
              </a:spcAft>
              <a:buFont typeface="+mj-lt"/>
              <a:buAutoNum type="arabicPeriod"/>
              <a:tabLst>
                <a:tab pos="457200" algn="l"/>
              </a:tabLs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Enhanced Security:</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Multi-layer authentication (face, fingerprint, RFID) makes it significantly more difficult for unauthorized individuals to bypass the system compared to single-factor methods.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tabLst>
                <a:tab pos="457200" algn="l"/>
              </a:tabLs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Increased Driver Safety:</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Integration of alcohol detection helps prevent drunk driving. Accident detection (tilt sensor) can provide early alerts.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tabLst>
                <a:tab pos="457200" algn="l"/>
              </a:tabLs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Remote Monitoring and Control:</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IoT integration via Blynk allows owners to receive real-time status updates (e.g., engine start) and remotely disable the engine in emergencies or suspected theft.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tabLst>
                <a:tab pos="457200" algn="l"/>
              </a:tabLs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User Identification:</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Face and fingerprint recognition provide strong, unique identification of the authorized user.</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tabLst>
                <a:tab pos="457200" algn="l"/>
              </a:tabLs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Customizable and Scalable:</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The modular design allows for potential future additions or modifications of security layers or sensors.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tabLst>
                <a:tab pos="457200" algn="l"/>
              </a:tabLs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Reduced Risk of Key-Related Issues:</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Mitigates risks associated with lost, stolen, or duplicated physical keys.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6081208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457200"/>
            <a:ext cx="3124200" cy="584775"/>
          </a:xfrm>
          <a:prstGeom prst="rect">
            <a:avLst/>
          </a:prstGeom>
        </p:spPr>
        <p:txBody>
          <a:bodyPr wrap="square">
            <a:spAutoFit/>
          </a:bodyPr>
          <a:lstStyle/>
          <a:p>
            <a:r>
              <a:rPr lang="en-US" sz="3200" b="1" dirty="0">
                <a:latin typeface="Times New Roman" pitchFamily="18" charset="0"/>
                <a:cs typeface="Times New Roman" pitchFamily="18" charset="0"/>
              </a:rPr>
              <a:t>LIMITATIONS</a:t>
            </a:r>
          </a:p>
        </p:txBody>
      </p:sp>
      <p:sp>
        <p:nvSpPr>
          <p:cNvPr id="3" name="Rectangle 2"/>
          <p:cNvSpPr/>
          <p:nvPr/>
        </p:nvSpPr>
        <p:spPr>
          <a:xfrm>
            <a:off x="228600" y="1045288"/>
            <a:ext cx="8544702" cy="8435643"/>
          </a:xfrm>
          <a:prstGeom prst="rect">
            <a:avLst/>
          </a:prstGeom>
        </p:spPr>
        <p:txBody>
          <a:bodyPr wrap="square">
            <a:spAutoFit/>
          </a:bodyPr>
          <a:lstStyle/>
          <a:p>
            <a:pPr lvl="0" algn="just">
              <a:lnSpc>
                <a:spcPct val="150000"/>
              </a:lnSpc>
              <a:spcAft>
                <a:spcPts val="1000"/>
              </a:spcAft>
              <a:tabLst>
                <a:tab pos="228600" algn="l"/>
              </a:tabLs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1. Face Recognition Challenges: </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Performance can be affected by extreme lighting conditions (very dark or direct sunlight), significant changes in user appearance (e.g., masks, heavy makeup, different hairstyles not in training), or if the camera is obscured.</a:t>
            </a:r>
          </a:p>
          <a:p>
            <a:pPr lvl="0" algn="just">
              <a:lnSpc>
                <a:spcPct val="150000"/>
              </a:lnSpc>
              <a:spcAft>
                <a:spcPts val="1000"/>
              </a:spcAft>
              <a:tabLst>
                <a:tab pos="228600" algn="l"/>
              </a:tabLs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2. Fingerprint Sensor Issues:</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Can be unreliable with wet, dirty, or scarred fingers. Quality of the sensor affects performance.</a:t>
            </a:r>
          </a:p>
          <a:p>
            <a:pPr lvl="0" algn="just">
              <a:lnSpc>
                <a:spcPct val="150000"/>
              </a:lnSpc>
              <a:spcAft>
                <a:spcPts val="1000"/>
              </a:spcAft>
              <a:tabLst>
                <a:tab pos="228600" algn="l"/>
              </a:tabLs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3. Tilt Sensor Simplicity:</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 basic tilt sensor (like SW-520D) might trigger false alarms on steep inclines or very bumpy roads if not calibrated carefully. It cannot distinguish types of impacts.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1000"/>
              </a:spcAft>
              <a:tabLst>
                <a:tab pos="228600" algn="l"/>
              </a:tabLs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4. Power Consumption:</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The ESP32 (especially with Wi-Fi active) and various sensors can consume considerable power, which might be a concern for long-term battery operation in a real vehicle if not connected to the vehicle's main power supply with proper management.</a:t>
            </a:r>
          </a:p>
          <a:p>
            <a:pPr algn="just">
              <a:lnSpc>
                <a:spcPct val="150000"/>
              </a:lnSpc>
              <a:spcAft>
                <a:spcPts val="1000"/>
              </a:spcAft>
              <a:tabLst>
                <a:tab pos="228600" algn="l"/>
              </a:tabLs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5. Complexity:</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The system involves multiple hardware and software components, increasing complexity in terms of development, troubleshooting, and cost.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1000"/>
              </a:spcAft>
              <a:tabLst>
                <a:tab pos="228600" algn="l"/>
              </a:tabLs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lvl="1" algn="just">
              <a:lnSpc>
                <a:spcPct val="150000"/>
              </a:lnSpc>
              <a:spcAft>
                <a:spcPts val="1000"/>
              </a:spcAft>
              <a:buSzPts val="1000"/>
              <a:tabLst>
                <a:tab pos="685800" algn="l"/>
              </a:tabLs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50000"/>
              </a:lnSpc>
              <a:spcAft>
                <a:spcPts val="1000"/>
              </a:spcAft>
              <a:buSzPts val="1000"/>
              <a:buFont typeface="Courier New" panose="02070309020205020404" pitchFamily="49" charset="0"/>
              <a:buChar char="o"/>
              <a:tabLst>
                <a:tab pos="685800" algn="l"/>
              </a:tabLst>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buAutoNum type="arabicPeriod"/>
            </a:pPr>
            <a:endParaRPr lang="en-US" sz="2000" dirty="0">
              <a:latin typeface="Times New Roman" pitchFamily="18" charset="0"/>
              <a:cs typeface="Times New Roman" pitchFamily="18" charset="0"/>
            </a:endParaRPr>
          </a:p>
          <a:p>
            <a:pPr marL="342900" indent="-342900" algn="just">
              <a:lnSpc>
                <a:spcPct val="150000"/>
              </a:lnSpc>
              <a:buAutoNum type="arabicPeriod"/>
            </a:pPr>
            <a:endParaRPr lang="en-US" sz="2000" dirty="0">
              <a:latin typeface="Times New Roman" pitchFamily="18" charset="0"/>
              <a:cs typeface="Times New Roman" pitchFamily="18" charset="0"/>
            </a:endParaRPr>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p:txBody>
      </p:sp>
    </p:spTree>
    <p:extLst>
      <p:ext uri="{BB962C8B-B14F-4D97-AF65-F5344CB8AC3E}">
        <p14:creationId xmlns:p14="http://schemas.microsoft.com/office/powerpoint/2010/main" val="8688210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43200" y="304800"/>
            <a:ext cx="3342582" cy="584775"/>
          </a:xfrm>
          <a:prstGeom prst="rect">
            <a:avLst/>
          </a:prstGeom>
        </p:spPr>
        <p:txBody>
          <a:bodyPr wrap="none">
            <a:spAutoFit/>
          </a:bodyPr>
          <a:lstStyle/>
          <a:p>
            <a:r>
              <a:rPr lang="en-US" sz="3200" b="1" dirty="0">
                <a:latin typeface="Times New Roman" pitchFamily="18" charset="0"/>
                <a:cs typeface="Times New Roman" pitchFamily="18" charset="0"/>
              </a:rPr>
              <a:t>FUTURE SCOPE</a:t>
            </a:r>
          </a:p>
        </p:txBody>
      </p:sp>
      <p:sp>
        <p:nvSpPr>
          <p:cNvPr id="3" name="Rectangle 2"/>
          <p:cNvSpPr/>
          <p:nvPr/>
        </p:nvSpPr>
        <p:spPr>
          <a:xfrm>
            <a:off x="266700" y="1102177"/>
            <a:ext cx="8610600" cy="4653646"/>
          </a:xfrm>
          <a:prstGeom prst="rect">
            <a:avLst/>
          </a:prstGeom>
        </p:spPr>
        <p:txBody>
          <a:bodyPr wrap="square">
            <a:spAutoFit/>
          </a:bodyPr>
          <a:lstStyle/>
          <a:p>
            <a:pPr algn="just">
              <a:lnSpc>
                <a:spcPct val="150000"/>
              </a:lnSpc>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1. Embedded Face Recognition:</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Replace the laptop-based face recognition with an embedded solution using a more powerful microcontroller (like ESP32-CAM with limitations, or a Raspberry Pi, Jetson Nano) directly integrated into the vehicle for a standalone system.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2. GPS Integration:</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Add a GPS module for real-time vehicle tracking, which can be reported via Blynk or SMS in case of theft or accident.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3. Multi-User Management:</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Develop a more sophisticated system for managing multiple authorized users with different permission levels, easily configurable by the primary owner.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4. Power Optimization:</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Implement power-saving modes and optimize code for reduced energy consumption, especially if intended for battery-powered standalone operation.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1007978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19400" y="457200"/>
            <a:ext cx="2967479" cy="584775"/>
          </a:xfrm>
          <a:prstGeom prst="rect">
            <a:avLst/>
          </a:prstGeom>
        </p:spPr>
        <p:txBody>
          <a:bodyPr wrap="none">
            <a:spAutoFit/>
          </a:bodyPr>
          <a:lstStyle/>
          <a:p>
            <a:r>
              <a:rPr lang="en-US" sz="3200" b="1" dirty="0">
                <a:latin typeface="Times New Roman" pitchFamily="18" charset="0"/>
                <a:cs typeface="Times New Roman" pitchFamily="18" charset="0"/>
              </a:rPr>
              <a:t>CONCLUSION</a:t>
            </a:r>
          </a:p>
        </p:txBody>
      </p:sp>
      <p:sp>
        <p:nvSpPr>
          <p:cNvPr id="3" name="Rectangle 2"/>
          <p:cNvSpPr/>
          <p:nvPr/>
        </p:nvSpPr>
        <p:spPr>
          <a:xfrm>
            <a:off x="302639" y="1289953"/>
            <a:ext cx="8153400" cy="5016758"/>
          </a:xfrm>
          <a:prstGeom prst="rect">
            <a:avLst/>
          </a:prstGeom>
        </p:spPr>
        <p:txBody>
          <a:bodyPr wrap="square">
            <a:spAutoFit/>
          </a:bodyPr>
          <a:lstStyle/>
          <a:p>
            <a:pPr algn="just"/>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This project successfully demonstrated the design and implementation of a "Multi-Level Security System for Vehicles" incorporating face recognition, fingerprint scanning, RFID validation, alcohol detection, accident sensing, and IoT-based remote monitoring and control. The system effectively integrates Python for face recognition on a laptop with an ESP32 microcontroller managing subsequent security layers, sensors, and user interaction via an LCD and the Blynk platform.</a:t>
            </a:r>
            <a:r>
              <a:rPr lang="en-IN" sz="2000" dirty="0">
                <a:latin typeface="Calibri" panose="020F0502020204030204" pitchFamily="34" charset="0"/>
                <a:ea typeface="Calibri" panose="020F0502020204030204" pitchFamily="34" charset="0"/>
                <a:cs typeface="Times New Roman" panose="02020603050405020304" pitchFamily="18" charset="0"/>
              </a:rPr>
              <a:t> </a:t>
            </a: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The layered authentication approach significantly enhances vehicle security compared to traditional systems. The inclusion of safety features like alcohol and accident detection contributes positively to driver and vehicle safety. The IoT capabilities provide valuable real-time awareness and control to the vehicle owner.</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The project successfully met its core objectives by creating a functional system that validates users through multiple checks before granting access and allowing engine operation.</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6500270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05100" y="228600"/>
            <a:ext cx="3733800" cy="523220"/>
          </a:xfrm>
          <a:prstGeom prst="rect">
            <a:avLst/>
          </a:prstGeom>
        </p:spPr>
        <p:txBody>
          <a:bodyPr wrap="square">
            <a:spAutoFit/>
          </a:bodyPr>
          <a:lstStyle/>
          <a:p>
            <a:pPr algn="ctr"/>
            <a:r>
              <a:rPr lang="en-US" sz="2800" b="1" dirty="0">
                <a:latin typeface="Times New Roman" pitchFamily="18" charset="0"/>
                <a:cs typeface="Times New Roman" pitchFamily="18" charset="0"/>
              </a:rPr>
              <a:t>REFERENCES</a:t>
            </a:r>
            <a:endParaRPr lang="en-US" sz="2800" dirty="0">
              <a:latin typeface="Times New Roman" pitchFamily="18" charset="0"/>
              <a:cs typeface="Times New Roman" pitchFamily="18" charset="0"/>
            </a:endParaRPr>
          </a:p>
        </p:txBody>
      </p:sp>
      <p:sp>
        <p:nvSpPr>
          <p:cNvPr id="3" name="Rectangle 2"/>
          <p:cNvSpPr/>
          <p:nvPr/>
        </p:nvSpPr>
        <p:spPr>
          <a:xfrm>
            <a:off x="304800" y="914400"/>
            <a:ext cx="8534400" cy="6280181"/>
          </a:xfrm>
          <a:prstGeom prst="rect">
            <a:avLst/>
          </a:prstGeom>
        </p:spPr>
        <p:txBody>
          <a:bodyPr wrap="square">
            <a:spAutoFit/>
          </a:bodyPr>
          <a:lstStyle/>
          <a:p>
            <a:pPr algn="just">
              <a:lnSpc>
                <a:spcPct val="115000"/>
              </a:lnSpc>
              <a:spcAft>
                <a:spcPts val="1000"/>
              </a:spcAft>
              <a:buNone/>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[1] S. Ahmed and M. K. Hasan, "Face Recognition Based Car Ignition System with Anti-Theft Security using GSM Technology," International Journal of Computer Applications, vol. 167, no. 8, pp. 12-16, Jun. 2017. DOI: 10.5120/ijca2017914404.</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buNone/>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 P. Kumar and R. Singh, "A Multi-Layered Vehicle Security System using Fingerprint and RFID Technology," in Proceedings of the 3rd International Conference on Computing Methodologies and Communication (ICCMC), Erode, India, Mar. 2019, pp. 865-869. DOI: 10.1109/ICCMC.2019.8819774.</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 R. Patel, M. Shah, and R. Makwana, "IoT Based Smart Vehicle Alcohol Detection and Accident Alert System," International Journal of Engineering and Advanced Technology (IJEAT), vol. 9, no. 3, pp. 2345-2349, Feb. 2020. DOI: 10.35940/ijeat.C6239.029320.</a:t>
            </a:r>
          </a:p>
          <a:p>
            <a:pPr algn="just">
              <a:spcAft>
                <a:spcPts val="1000"/>
              </a:spcAf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P. Viola and M. J. Jones, "Robust Real-Time Face Detection," International Journal of Computer Vision, vol. 57, no. 2, pp. 137-154, May 2004. DOI: 10.1023/B:VISI.0000013087.49260.fb.</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 T. Ahonen, A. Hadid, and M. Pietikäinen, "Face Description with Local Binary Patterns: Application to Face Recognition," IEEE Transactions on Pattern Analysis and Machine Intelligence, vol. 28, no. 12, pp. 2037-2041, Dec. 2006. DOI: 10.1109/TPAMI.2006.244.</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buAutoNum type="arabicPeriod"/>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4097434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762000"/>
            <a:ext cx="3985386" cy="523220"/>
          </a:xfrm>
          <a:prstGeom prst="rect">
            <a:avLst/>
          </a:prstGeom>
        </p:spPr>
        <p:txBody>
          <a:bodyPr wrap="none">
            <a:spAutoFit/>
          </a:bodyPr>
          <a:lstStyle/>
          <a:p>
            <a:r>
              <a:rPr lang="en-US" sz="2800" b="1" dirty="0">
                <a:latin typeface="Times New Roman" pitchFamily="18" charset="0"/>
                <a:cs typeface="Times New Roman" pitchFamily="18" charset="0"/>
              </a:rPr>
              <a:t>COURSE OUTCOMES</a:t>
            </a:r>
          </a:p>
        </p:txBody>
      </p:sp>
      <p:sp>
        <p:nvSpPr>
          <p:cNvPr id="3" name="Rectangle 2"/>
          <p:cNvSpPr/>
          <p:nvPr/>
        </p:nvSpPr>
        <p:spPr>
          <a:xfrm>
            <a:off x="762000" y="1524000"/>
            <a:ext cx="8382000" cy="3939540"/>
          </a:xfrm>
          <a:prstGeom prst="rect">
            <a:avLst/>
          </a:prstGeom>
        </p:spPr>
        <p:txBody>
          <a:bodyPr wrap="square">
            <a:spAutoFit/>
          </a:bodyPr>
          <a:lstStyle/>
          <a:p>
            <a:r>
              <a:rPr lang="en-US" sz="2000" dirty="0">
                <a:latin typeface="Times New Roman" pitchFamily="18" charset="0"/>
                <a:cs typeface="Times New Roman" pitchFamily="18" charset="0"/>
              </a:rPr>
              <a:t>On completion of this course, students are able to:</a:t>
            </a:r>
          </a:p>
          <a:p>
            <a:endParaRPr lang="en-US" sz="2000" dirty="0">
              <a:latin typeface="Times New Roman" pitchFamily="18" charset="0"/>
              <a:cs typeface="Times New Roman" pitchFamily="18" charset="0"/>
            </a:endParaRPr>
          </a:p>
          <a:p>
            <a:pPr algn="just">
              <a:lnSpc>
                <a:spcPct val="150000"/>
              </a:lnSpc>
            </a:pPr>
            <a:r>
              <a:rPr lang="en-US" sz="2000" dirty="0">
                <a:latin typeface="Times New Roman" pitchFamily="18" charset="0"/>
                <a:cs typeface="Times New Roman" pitchFamily="18" charset="0"/>
              </a:rPr>
              <a:t>1. Get exposed to literature available for research challenges in  </a:t>
            </a:r>
          </a:p>
          <a:p>
            <a:pPr algn="just">
              <a:lnSpc>
                <a:spcPct val="150000"/>
              </a:lnSpc>
            </a:pPr>
            <a:r>
              <a:rPr lang="en-US" sz="2000" dirty="0">
                <a:latin typeface="Times New Roman" pitchFamily="18" charset="0"/>
                <a:cs typeface="Times New Roman" pitchFamily="18" charset="0"/>
              </a:rPr>
              <a:t>     interdisciplinary fields.</a:t>
            </a:r>
          </a:p>
          <a:p>
            <a:pPr algn="just">
              <a:lnSpc>
                <a:spcPct val="150000"/>
              </a:lnSpc>
            </a:pPr>
            <a:r>
              <a:rPr lang="en-US" sz="2000" dirty="0">
                <a:latin typeface="Times New Roman" pitchFamily="18" charset="0"/>
                <a:cs typeface="Times New Roman" pitchFamily="18" charset="0"/>
              </a:rPr>
              <a:t>2. Get an insight of real world problems, challenges and related </a:t>
            </a:r>
          </a:p>
          <a:p>
            <a:pPr algn="just">
              <a:lnSpc>
                <a:spcPct val="150000"/>
              </a:lnSpc>
            </a:pPr>
            <a:r>
              <a:rPr lang="en-US" sz="2000" dirty="0">
                <a:latin typeface="Times New Roman" pitchFamily="18" charset="0"/>
                <a:cs typeface="Times New Roman" pitchFamily="18" charset="0"/>
              </a:rPr>
              <a:t>    engineering issues to broader societal context.</a:t>
            </a:r>
          </a:p>
          <a:p>
            <a:pPr algn="just">
              <a:lnSpc>
                <a:spcPct val="150000"/>
              </a:lnSpc>
            </a:pPr>
            <a:r>
              <a:rPr lang="en-US" sz="2000" dirty="0">
                <a:latin typeface="Times New Roman" pitchFamily="18" charset="0"/>
                <a:cs typeface="Times New Roman" pitchFamily="18" charset="0"/>
              </a:rPr>
              <a:t>3. Implement their idea using modern tools &amp; new technologies.</a:t>
            </a:r>
          </a:p>
          <a:p>
            <a:pPr algn="just">
              <a:lnSpc>
                <a:spcPct val="150000"/>
              </a:lnSpc>
            </a:pPr>
            <a:r>
              <a:rPr lang="en-US" sz="2000" dirty="0">
                <a:latin typeface="Times New Roman" pitchFamily="18" charset="0"/>
                <a:cs typeface="Times New Roman" pitchFamily="18" charset="0"/>
              </a:rPr>
              <a:t>4. Demonstrate professionalism with ethics, individual &amp; team management</a:t>
            </a:r>
          </a:p>
          <a:p>
            <a:pPr algn="just">
              <a:lnSpc>
                <a:spcPct val="150000"/>
              </a:lnSpc>
            </a:pPr>
            <a:r>
              <a:rPr lang="en-US" sz="2000" dirty="0">
                <a:latin typeface="Times New Roman" pitchFamily="18" charset="0"/>
                <a:cs typeface="Times New Roman" pitchFamily="18" charset="0"/>
              </a:rPr>
              <a:t>    and effective communication skills to comprehend &amp; to write reports.</a:t>
            </a:r>
          </a:p>
        </p:txBody>
      </p:sp>
    </p:spTree>
    <p:extLst>
      <p:ext uri="{BB962C8B-B14F-4D97-AF65-F5344CB8AC3E}">
        <p14:creationId xmlns:p14="http://schemas.microsoft.com/office/powerpoint/2010/main" val="23507742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4" name="Text Placeholder 2"/>
          <p:cNvSpPr>
            <a:spLocks noGrp="1"/>
          </p:cNvSpPr>
          <p:nvPr>
            <p:ph type="body" idx="1"/>
          </p:nvPr>
        </p:nvSpPr>
        <p:spPr>
          <a:xfrm>
            <a:off x="2133600" y="2133600"/>
            <a:ext cx="7772400" cy="1500187"/>
          </a:xfrm>
        </p:spPr>
        <p:txBody>
          <a:bodyPr>
            <a:normAutofit/>
          </a:bodyPr>
          <a:lstStyle/>
          <a:p>
            <a:r>
              <a:rPr lang="en-US" sz="6600" dirty="0">
                <a:solidFill>
                  <a:schemeClr val="tx1"/>
                </a:solidFill>
                <a:latin typeface="Times New Roman" panose="02020603050405020304" pitchFamily="18" charset="0"/>
                <a:cs typeface="Times New Roman" panose="02020603050405020304" pitchFamily="18" charset="0"/>
              </a:rPr>
              <a:t>THANK YOU</a:t>
            </a:r>
            <a:endParaRPr lang="en-IN" sz="6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1282</TotalTime>
  <Words>3216</Words>
  <Application>Microsoft Office PowerPoint</Application>
  <PresentationFormat>On-screen Show (4:3)</PresentationFormat>
  <Paragraphs>291</Paragraphs>
  <Slides>29</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Courier New</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RANI CO</cp:lastModifiedBy>
  <cp:revision>116</cp:revision>
  <dcterms:created xsi:type="dcterms:W3CDTF">2024-07-14T19:26:11Z</dcterms:created>
  <dcterms:modified xsi:type="dcterms:W3CDTF">2025-05-27T09:13:33Z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fd2c5ffdb55d49829f1465c8a6ed399d</vt:lpwstr>
  </property>
</Properties>
</file>